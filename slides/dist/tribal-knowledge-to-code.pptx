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S01 | elapsed 0-3 minutes | Target: 3 minutes including host introduction
All application people, data, rules, and the audit component are synthetic.
- Every team has someone who says: yes, that code works, but we do not do it that way here
- Today we turn one of those explanations into explicit guidance and observable checks
- This is a synthetic .NET dependency/API migration, not an Azure migration
Show: PowerPoint title slide; keep unrelated desktop windows off the shared screen
Evidence: The runnable reference and legacy sample are real; independent Copilot captures are not-run
Transition: Let us start with a question: it compiles, but is it right for us?
Fallback: If the host handoff runs long, keep this introduction to one sentence
Source: docs/product-notes.md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S02 | elapsed 3-5 minutes | Target: 2 minutes
All application people, data, rules, and the audit component are synthetic.
- Ask who has seen a successful build hide a business regression
- A partner quote for 33.35 times three should total 102.04, not just compile
- Show the rounding test early: the reference demonstrates a behavior, not agent superiority
Show: tests/Northwind.UnitTests/PricingTests.cs, midpoint case
Evidence: Concrete decimal rounding assertion and expected total 102.04
Transition: What are the explanations our team repeats when reviewing that change?
Fallback: Read the test from the file without starting a process
Source: tests/Northwind.UnitTests/PricingTests.cs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S03 | elapsed 5-7 minutes | Target: 2 minutes
All application people, data, rules, and the audit component are synthetic.
- Introduce the fictional Northwind Outfitters Quote Service
- Partner discounts start at three; shipping follows the discounted net
- Consumers expect lowercase strings and an explicit null; logs must exclude customer data
- These behaviors are visible in the legacy source; the skill makes them discoverable and repeatable
Show: knowledge/team-notes.md beside the small source tree
Evidence: Synthetic notes map to R1-R4 in knowledge/rules-catalog.md
Transition: We do not need to paste everything into every prompt
Fallback: Use the four cards and tell one short fictional team story
Source: knowledge/team-notes.md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S04 | elapsed 7-11 minutes | Target: 4 minutes
All application people, data, rules, and the audit component are synthetic.
- A prompt states today's desired change
- Repository instructions describe conventions that apply broadly
- A skill packages a relevant workflow and supporting examples
- Tests define repeatable checks; people still decide whether the change is appropriate
Show: .github/copilot-instructions.md, then the skill directory
Evidence: Separate files with separate responsibilities; no domain-rule wall in general instructions
Transition: First, let us give the migration task without adding the specialized context
Fallback: Explain the distinction directly from this slide; no host feature depends on it
Source: https://docs.github.com/en/copilot/concepts/agents/about-agent-skills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S05 | elapsed 11-19 minutes | Target: 8 minutes
All application people, data, rules, and the audit component are synthetic.
- Open the isolated baseline root in a fresh app conversation, not this authoring repository
- Show the tiny working app, one request, and the exact prepared baseline prompt
- Review any real result fairly; a correct baseline is a valid outcome
- If no independent run exists, explicitly switch to the legacy/reference walkthrough
Show: Isolated baseline root; prompts/01-baseline.txt; src/Northwind.Quotes/QuoteJson.cs
Evidence: Input manifest and real output only; never call the reference a baseline capture
Transition: Now let us take one repeated explanation and make it actionable
Fallback: After 60-90 seconds, say: this is the prepared reference, not a captured Copilot run
Source: prompts/01-baseline.txt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S06 | elapsed 19-23 minutes | Target: 4 minutes
All application people, data, rules, and the audit component are synthetic.
- Start with the fictional integration note: an absent review note still has a property
- Explain the difference between a preference and an observable contract
- Show the real serializer setting and the acceptance assertion
- Give one bad counterexample: ignoring nulls can silently change the response shape
Show: src/Northwind.Quotes/QuoteJson.cs and tests/Northwind.AcceptanceTests/ContractTests.cs
Evidence: Actual JsonIgnoreCondition.Never source excerpt; explicit null assertion
Transition: That rule is useful; the surrounding workflow makes it reusable
Fallback: The slide's source excerpt is copied directly by the generator
Source: src/Northwind.Quotes/QuoteJson.cs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S07 | elapsed 23-27 minutes | Target: 4 minutes
All application people, data, rules, and the audit component are synthetic.
- Show the actual name and task-specific activation description
- The supporting references stay inside the skill package so exported links work
- Official docs describe relevance-based loading; this does not guarantee correct application
- The general app agent is the prepared route; dedicated Upgrade integration is unverified here
Show: .github/skills/northwind-modernization/SKILL.md and references/review-checklist.md
Evidence: Installed CLI skill inventory detects the project skill; that is not per-run activation telemetry
Transition: Now start again from the same input, with the skill supplied
Fallback: Open the files directly and disclose any explicit request to use the skill
Source: .github/skills/northwind-modernization/SKILL.md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S08 | elapsed 27-41 minutes | Target: 14 minutes
All application people, data, rules, and the audit component are synthetic.
- Open the separately exported guided root in a fresh conversation
- Show matching starting source/test manifests and the four added skill files
- Paste the exact guided prompt and inspect available evidence of skill use without inventing logs
- Evaluate both results with the same external criteria; preserve failures and interventions
Show: Guided root; prompts/02-guided.txt; external scripts/compare.ps1
Evidence: Identical starting source, smoke tests and prompt core; different supplied context
Transition: Let us compare evidence rather than impressions
Fallback: Use the reference walkthrough with unit/acceptance tests; say no independent guided output was captured
Source: scripts/export-demo.ps1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S09 | elapsed 41-44 minutes | Target: 3 minutes
All application people, data, rules, and the audit component are synthetic.
- Both independent capture manifests currently say not-run
- Show the real not-run report rather than a placeholder success table
- The reference passes defined checks but is not evidence of generated-agent performance
- If both future candidates pass, show that; if guided fails, preserve and diagnose it
Show: demos/captures/baseline.json, guided.json; actual comparison.md
Evidence: Four allowed statuses: pass, fail, not-run, blocked; finite checks are not a compliance guarantee
Transition: The reusable asset is not a winning screenshot; it is a shared team practice
Fallback: Keep the checklist and explicitly say the independent experiment has not run
Source: scripts/compare.ps1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S10 | elapsed 44-47 minutes | Target: 3 minutes
All application people, data, rules, and the audit component are synthetic.
- Put the skill and examples under source control with the code they guide
- Assign an owner and update examples when the contract changes
- Review skills as executable-workflow guidance, including scripts and tool permissions
- The optional reuse prompt is a stretch exercise, not a second application
Show: docs/maintenance.md; optionally prompts/04-reuse.txt without executing it
Evidence: Rule-to-test ownership and change checklist, not promised deterministic generation
Transition: You can start much smaller than a complete company standards catalog
Fallback: Cut the optional reuse explanation if time is short
Source: docs/maintenance.md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S11 | elapsed 47-50 minutes | Target: 3 minutes
All application people, data, rules, and the audit component are synthetic.
- Choose one modernization task you already understand
- Write down the rule you explain every code review
- Add a good example, a counterexample, and evidence that would convince a reviewer
- Reuse it on another small change and refine it from actual failures
Show: Skill reference checklist; keep focus on the attendee's first next action
Evidence: One actionable rule can be checked; a vague paragraph cannot
Transition: Here are the resources and the three things I hope you take away
Fallback: Give the closing action verbatim and move to resources
Source: .github/skills/northwind-modernization/references/review-checklist.md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S12 | elapsed 50-52 minutes | Target: 2 minutes, then keep visible for Q&amp;A until minute 60
All application people, data, rules, and the audit component are synthetic.
- The attendee repository is staged locally; its public URL must be verified before delivery
- Official skills and upgrade documentation are linked in the notes and resources file
- Close: pick one modernization task, capture one repeated rule, encode it in a skill, review, reuse
- Keep this slide visible for Q&amp;A; do not claim public availability until it is verified
Show: docs/resources.md; Q&amp;A answers in demos/runbook.md
Evidence: Verified official links; no fabricated sample URL or QR code
Transition: What is one rule your team keeps explaining?
Fallback: Direct attendees to the official docs; say the sample link will be supplied after access is verified
Source: https://docs.github.com/en/copilot/concepts/agents/about-agent-skills
https://docs.github.com/en/copilot/concepts/agents/about-agent-skills
https://learn.microsoft.com/en-us/dotnet/core/porting/github-copilot-upgrade/overview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55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a repeated explanation into a reusable workflow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94360" y="59436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021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Tribal Knowledge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2021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 Code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594360" y="2331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Skills for GitHub Copilot Modernization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94360" y="3063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021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Bruno Capuano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94360" y="4069080"/>
            <a:ext cx="3474720" cy="914400"/>
          </a:xfrm>
          <a:prstGeom prst="rect">
            <a:avLst/>
          </a:prstGeom>
          <a:solidFill>
            <a:srgbClr val="F0ECFA"/>
          </a:solidFill>
          <a:ln w="12700">
            <a:solidFill>
              <a:srgbClr val="F0ECFA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233672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knowledge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361688" y="4069080"/>
            <a:ext cx="3474720" cy="914400"/>
          </a:xfrm>
          <a:prstGeom prst="rect">
            <a:avLst/>
          </a:prstGeom>
          <a:solidFill>
            <a:srgbClr val="F0ECFA"/>
          </a:solidFill>
          <a:ln w="12700">
            <a:solidFill>
              <a:srgbClr val="F0ECFA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90288" y="4233672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skill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8129016" y="4069080"/>
            <a:ext cx="3474720" cy="914400"/>
          </a:xfrm>
          <a:prstGeom prst="rect">
            <a:avLst/>
          </a:prstGeom>
          <a:solidFill>
            <a:srgbClr val="F0ECFA"/>
          </a:solidFill>
          <a:ln w="12700">
            <a:solidFill>
              <a:srgbClr val="F0ECFA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57616" y="4233672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 change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21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 compiles. Is it right for us?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94360" y="566928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55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successful build answers only one question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94360" y="2286000"/>
            <a:ext cx="3474720" cy="2011680"/>
          </a:xfrm>
          <a:prstGeom prst="rect">
            <a:avLst/>
          </a:prstGeom>
          <a:solidFill>
            <a:srgbClr val="F0ECFA"/>
          </a:solidFill>
          <a:ln w="12700">
            <a:solidFill>
              <a:srgbClr val="F0ECFA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2450592"/>
            <a:ext cx="301752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correctness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4361688" y="2286000"/>
            <a:ext cx="3474720" cy="2011680"/>
          </a:xfrm>
          <a:prstGeom prst="rect">
            <a:avLst/>
          </a:prstGeom>
          <a:solidFill>
            <a:srgbClr val="F0ECFA"/>
          </a:solidFill>
          <a:ln w="12700">
            <a:solidFill>
              <a:srgbClr val="F0ECFA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90288" y="2450592"/>
            <a:ext cx="301752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correctness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8129016" y="2286000"/>
            <a:ext cx="3474720" cy="2011680"/>
          </a:xfrm>
          <a:prstGeom prst="rect">
            <a:avLst/>
          </a:prstGeom>
          <a:solidFill>
            <a:srgbClr val="F0ECFA"/>
          </a:solidFill>
          <a:ln w="12700">
            <a:solidFill>
              <a:srgbClr val="F0ECFA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57616" y="2450592"/>
            <a:ext cx="301752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Organizational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94360" y="4663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1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33.35 x 3  |  Partner total: 102.04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21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rules that never made it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2021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into the prompt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94360" y="566928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55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source contains clues; the skill captures intent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94360" y="1965960"/>
            <a:ext cx="5321808" cy="1371600"/>
          </a:xfrm>
          <a:prstGeom prst="rect">
            <a:avLst/>
          </a:prstGeom>
          <a:solidFill>
            <a:srgbClr val="F0ECFA"/>
          </a:solidFill>
          <a:ln w="12700">
            <a:solidFill>
              <a:srgbClr val="F0ECFA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2130552"/>
            <a:ext cx="48646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R1  Pricing exception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227064" y="1965960"/>
            <a:ext cx="5321808" cy="1371600"/>
          </a:xfrm>
          <a:prstGeom prst="rect">
            <a:avLst/>
          </a:prstGeom>
          <a:solidFill>
            <a:srgbClr val="F0ECFA"/>
          </a:solidFill>
          <a:ln w="12700">
            <a:solidFill>
              <a:srgbClr val="F0ECFA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55664" y="2130552"/>
            <a:ext cx="48646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R2  JSON contract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594360" y="3657600"/>
            <a:ext cx="5321808" cy="1371600"/>
          </a:xfrm>
          <a:prstGeom prst="rect">
            <a:avLst/>
          </a:prstGeom>
          <a:solidFill>
            <a:srgbClr val="F0ECFA"/>
          </a:solidFill>
          <a:ln w="12700">
            <a:solidFill>
              <a:srgbClr val="F0ECFA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3822192"/>
            <a:ext cx="48646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  Audit convention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6227064" y="3657600"/>
            <a:ext cx="5321808" cy="1371600"/>
          </a:xfrm>
          <a:prstGeom prst="rect">
            <a:avLst/>
          </a:prstGeom>
          <a:solidFill>
            <a:srgbClr val="F0ECFA"/>
          </a:solidFill>
          <a:ln w="12700">
            <a:solidFill>
              <a:srgbClr val="F0ECFA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55664" y="3822192"/>
            <a:ext cx="48646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R4  Safe diagnostics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21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Put the right knowledge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2021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 the right place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94360" y="566928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55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  &gt;  Plan  &gt;  Change  &gt;  Review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94360" y="1965960"/>
            <a:ext cx="5321808" cy="1371600"/>
          </a:xfrm>
          <a:prstGeom prst="rect">
            <a:avLst/>
          </a:prstGeom>
          <a:solidFill>
            <a:srgbClr val="F0ECFA"/>
          </a:solidFill>
          <a:ln w="12700">
            <a:solidFill>
              <a:srgbClr val="F0ECFA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2130552"/>
            <a:ext cx="48646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 task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227064" y="1965960"/>
            <a:ext cx="5321808" cy="1371600"/>
          </a:xfrm>
          <a:prstGeom prst="rect">
            <a:avLst/>
          </a:prstGeom>
          <a:solidFill>
            <a:srgbClr val="F0ECFA"/>
          </a:solidFill>
          <a:ln w="12700">
            <a:solidFill>
              <a:srgbClr val="F0ECFA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55664" y="2130552"/>
            <a:ext cx="48646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conventions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594360" y="3657600"/>
            <a:ext cx="5321808" cy="1371600"/>
          </a:xfrm>
          <a:prstGeom prst="rect">
            <a:avLst/>
          </a:prstGeom>
          <a:solidFill>
            <a:srgbClr val="F0ECFA"/>
          </a:solidFill>
          <a:ln w="12700">
            <a:solidFill>
              <a:srgbClr val="F0ECFA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3822192"/>
            <a:ext cx="48646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Specialized workflow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6227064" y="3657600"/>
            <a:ext cx="5321808" cy="1371600"/>
          </a:xfrm>
          <a:prstGeom prst="rect">
            <a:avLst/>
          </a:prstGeom>
          <a:solidFill>
            <a:srgbClr val="F0ECFA"/>
          </a:solidFill>
          <a:ln w="12700">
            <a:solidFill>
              <a:srgbClr val="F0ECFA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55664" y="3822192"/>
            <a:ext cx="48646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and CI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Executable checks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21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First pass: modernize the technology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94360" y="566928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55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behavior. Inspect the actual diff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94360" y="2148840"/>
            <a:ext cx="5321808" cy="1737360"/>
          </a:xfrm>
          <a:prstGeom prst="rect">
            <a:avLst/>
          </a:prstGeom>
          <a:solidFill>
            <a:srgbClr val="F0ECFA"/>
          </a:solidFill>
          <a:ln w="12700">
            <a:solidFill>
              <a:srgbClr val="F0ECFA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2313432"/>
            <a:ext cx="486460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Newtonsoft.Json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227064" y="2148840"/>
            <a:ext cx="5321808" cy="1737360"/>
          </a:xfrm>
          <a:prstGeom prst="rect">
            <a:avLst/>
          </a:prstGeom>
          <a:solidFill>
            <a:srgbClr val="F0ECFA"/>
          </a:solidFill>
          <a:ln w="12700">
            <a:solidFill>
              <a:srgbClr val="F0ECFA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55664" y="2313432"/>
            <a:ext cx="486460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System.Text.Json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594360" y="43891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capture: not-run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94360" y="4983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021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Fallback: explicitly labeled reference walkthrough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21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Turn one rule into actionable guidance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94360" y="566928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55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it applies + what to preserve + example + evidence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94360" y="2011680"/>
            <a:ext cx="5321808" cy="1325880"/>
          </a:xfrm>
          <a:prstGeom prst="rect">
            <a:avLst/>
          </a:prstGeom>
          <a:solidFill>
            <a:srgbClr val="F0ECFA"/>
          </a:solidFill>
          <a:ln w="12700">
            <a:solidFill>
              <a:srgbClr val="F0ECFA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2176272"/>
            <a:ext cx="486460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optional field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227064" y="2011680"/>
            <a:ext cx="5321808" cy="1325880"/>
          </a:xfrm>
          <a:prstGeom prst="rect">
            <a:avLst/>
          </a:prstGeom>
          <a:solidFill>
            <a:srgbClr val="F0ECFA"/>
          </a:solidFill>
          <a:ln w="12700">
            <a:solidFill>
              <a:srgbClr val="F0ECFA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55664" y="2176272"/>
            <a:ext cx="486460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"review_note": null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822960" y="374904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5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DefaultIgnoreCondition =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285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JsonIgnoreCondition.Never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21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skill is more than a long prompt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94360" y="566928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55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Guidance, not guaranteed enforcement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94360" y="1965960"/>
            <a:ext cx="5321808" cy="749808"/>
          </a:xfrm>
          <a:prstGeom prst="rect">
            <a:avLst/>
          </a:prstGeom>
          <a:solidFill>
            <a:srgbClr val="F0ECFA"/>
          </a:solidFill>
          <a:ln w="12700">
            <a:solidFill>
              <a:srgbClr val="F0ECFA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2130552"/>
            <a:ext cx="4864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SKILL.md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94360" y="2926080"/>
            <a:ext cx="5321808" cy="749808"/>
          </a:xfrm>
          <a:prstGeom prst="rect">
            <a:avLst/>
          </a:prstGeom>
          <a:solidFill>
            <a:srgbClr val="F0ECFA"/>
          </a:solidFill>
          <a:ln w="12700">
            <a:solidFill>
              <a:srgbClr val="F0ECFA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3090672"/>
            <a:ext cx="4864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references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94360" y="3886200"/>
            <a:ext cx="5321808" cy="749808"/>
          </a:xfrm>
          <a:prstGeom prst="rect">
            <a:avLst/>
          </a:prstGeom>
          <a:solidFill>
            <a:srgbClr val="F0ECFA"/>
          </a:solidFill>
          <a:ln w="12700">
            <a:solidFill>
              <a:srgbClr val="F0ECFA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050792"/>
            <a:ext cx="4864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+ review criteria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446520" y="24688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5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285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northwind-modernization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446520" y="39319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021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Task-specific activation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2021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Self-contained resources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21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Same task. Explicit organizational context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94360" y="566928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55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Matching source hashes. Additional skill context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94360" y="2148840"/>
            <a:ext cx="5321808" cy="1737360"/>
          </a:xfrm>
          <a:prstGeom prst="rect">
            <a:avLst/>
          </a:prstGeom>
          <a:solidFill>
            <a:srgbClr val="F0ECFA"/>
          </a:solidFill>
          <a:ln w="12700">
            <a:solidFill>
              <a:srgbClr val="F0ECFA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2313432"/>
            <a:ext cx="486460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legacy input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227064" y="2148840"/>
            <a:ext cx="5321808" cy="1737360"/>
          </a:xfrm>
          <a:prstGeom prst="rect">
            <a:avLst/>
          </a:prstGeom>
          <a:solidFill>
            <a:srgbClr val="F0ECFA"/>
          </a:solidFill>
          <a:ln w="12700">
            <a:solidFill>
              <a:srgbClr val="F0ECFA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55664" y="2313432"/>
            <a:ext cx="486460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Skill-guided request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594360" y="43891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capture: not-run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94360" y="4983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021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Fallback: explicitly labeled reference walkthrough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21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will compare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94360" y="566928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55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captured runs. No declared winner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94360" y="1920240"/>
            <a:ext cx="7680960" cy="731520"/>
          </a:xfrm>
          <a:prstGeom prst="rect">
            <a:avLst/>
          </a:prstGeom>
          <a:solidFill>
            <a:srgbClr val="F0ECFA"/>
          </a:solidFill>
          <a:ln w="12700">
            <a:solidFill>
              <a:srgbClr val="F0ECFA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2084832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Migration + build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641080" y="1920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55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Not-run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94360" y="2761488"/>
            <a:ext cx="7680960" cy="731520"/>
          </a:xfrm>
          <a:prstGeom prst="rect">
            <a:avLst/>
          </a:prstGeom>
          <a:solidFill>
            <a:srgbClr val="F0ECFA"/>
          </a:solidFill>
          <a:ln w="12700">
            <a:solidFill>
              <a:srgbClr val="F0ECFA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92608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 + wire contract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641080" y="276148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55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Not-run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94360" y="3602736"/>
            <a:ext cx="7680960" cy="731520"/>
          </a:xfrm>
          <a:prstGeom prst="rect">
            <a:avLst/>
          </a:prstGeom>
          <a:solidFill>
            <a:srgbClr val="F0ECFA"/>
          </a:solidFill>
          <a:ln w="12700">
            <a:solidFill>
              <a:srgbClr val="F0ECFA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767328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+ diagnostics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641080" y="3602736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55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Not-run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594360" y="4443984"/>
            <a:ext cx="7680960" cy="731520"/>
          </a:xfrm>
          <a:prstGeom prst="rect">
            <a:avLst/>
          </a:prstGeom>
          <a:solidFill>
            <a:srgbClr val="F0ECFA"/>
          </a:solidFill>
          <a:ln w="12700">
            <a:solidFill>
              <a:srgbClr val="F0ECFA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608576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 scope + review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641080" y="4443984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55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Not-run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21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one developer to team practice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94360" y="566928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55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 guide. Tests check. People decide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94360" y="2606040"/>
            <a:ext cx="1956816" cy="1280160"/>
          </a:xfrm>
          <a:prstGeom prst="rect">
            <a:avLst/>
          </a:prstGeom>
          <a:solidFill>
            <a:srgbClr val="F0ECFA"/>
          </a:solidFill>
          <a:ln w="12700">
            <a:solidFill>
              <a:srgbClr val="F0ECFA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2770632"/>
            <a:ext cx="149961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2596896" y="3063240"/>
            <a:ext cx="201168" cy="320040"/>
          </a:xfrm>
          <a:prstGeom prst="chevron">
            <a:avLst/>
          </a:prstGeom>
          <a:solidFill>
            <a:srgbClr val="6241B8"/>
          </a:solidFill>
          <a:ln w="12700">
            <a:solidFill>
              <a:srgbClr val="6241B8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43784" y="2606040"/>
            <a:ext cx="1956816" cy="1280160"/>
          </a:xfrm>
          <a:prstGeom prst="rect">
            <a:avLst/>
          </a:prstGeom>
          <a:solidFill>
            <a:srgbClr val="F0ECFA"/>
          </a:solidFill>
          <a:ln w="12700">
            <a:solidFill>
              <a:srgbClr val="F0ECFA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72384" y="2770632"/>
            <a:ext cx="149961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4846320" y="3063240"/>
            <a:ext cx="201168" cy="320040"/>
          </a:xfrm>
          <a:prstGeom prst="chevron">
            <a:avLst/>
          </a:prstGeom>
          <a:solidFill>
            <a:srgbClr val="6241B8"/>
          </a:solidFill>
          <a:ln w="12700">
            <a:solidFill>
              <a:srgbClr val="6241B8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93208" y="2606040"/>
            <a:ext cx="1956816" cy="1280160"/>
          </a:xfrm>
          <a:prstGeom prst="rect">
            <a:avLst/>
          </a:prstGeom>
          <a:solidFill>
            <a:srgbClr val="F0ECFA"/>
          </a:solidFill>
          <a:ln w="12700">
            <a:solidFill>
              <a:srgbClr val="F0ECFA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21808" y="2770632"/>
            <a:ext cx="149961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095744" y="3063240"/>
            <a:ext cx="201168" cy="320040"/>
          </a:xfrm>
          <a:prstGeom prst="chevron">
            <a:avLst/>
          </a:prstGeom>
          <a:solidFill>
            <a:srgbClr val="6241B8"/>
          </a:solidFill>
          <a:ln w="12700">
            <a:solidFill>
              <a:srgbClr val="6241B8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42632" y="2606040"/>
            <a:ext cx="1956816" cy="1280160"/>
          </a:xfrm>
          <a:prstGeom prst="rect">
            <a:avLst/>
          </a:prstGeom>
          <a:solidFill>
            <a:srgbClr val="F0ECFA"/>
          </a:solidFill>
          <a:ln w="12700">
            <a:solidFill>
              <a:srgbClr val="F0ECFA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71232" y="2770632"/>
            <a:ext cx="149961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9345168" y="3063240"/>
            <a:ext cx="201168" cy="320040"/>
          </a:xfrm>
          <a:prstGeom prst="chevron">
            <a:avLst/>
          </a:prstGeom>
          <a:solidFill>
            <a:srgbClr val="6241B8"/>
          </a:solidFill>
          <a:ln w="12700">
            <a:solidFill>
              <a:srgbClr val="6241B8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592056" y="2606040"/>
            <a:ext cx="1956816" cy="1280160"/>
          </a:xfrm>
          <a:prstGeom prst="rect">
            <a:avLst/>
          </a:prstGeom>
          <a:solidFill>
            <a:srgbClr val="F0ECFA"/>
          </a:solidFill>
          <a:ln w="12700">
            <a:solidFill>
              <a:srgbClr val="F0ECFA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820656" y="2770632"/>
            <a:ext cx="149961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</a:t>
            </a:r>
            <a:endParaRPr lang="en-US" sz="2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21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first skill starts with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2021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repeated explanation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94360" y="566928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55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one task. Capture one rule. Review the result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94360" y="2606040"/>
            <a:ext cx="1956816" cy="1280160"/>
          </a:xfrm>
          <a:prstGeom prst="rect">
            <a:avLst/>
          </a:prstGeom>
          <a:solidFill>
            <a:srgbClr val="F0ECFA"/>
          </a:solidFill>
          <a:ln w="12700">
            <a:solidFill>
              <a:srgbClr val="F0ECFA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2770632"/>
            <a:ext cx="149961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2596896" y="3063240"/>
            <a:ext cx="201168" cy="320040"/>
          </a:xfrm>
          <a:prstGeom prst="chevron">
            <a:avLst/>
          </a:prstGeom>
          <a:solidFill>
            <a:srgbClr val="6241B8"/>
          </a:solidFill>
          <a:ln w="12700">
            <a:solidFill>
              <a:srgbClr val="6241B8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43784" y="2606040"/>
            <a:ext cx="1956816" cy="1280160"/>
          </a:xfrm>
          <a:prstGeom prst="rect">
            <a:avLst/>
          </a:prstGeom>
          <a:solidFill>
            <a:srgbClr val="F0ECFA"/>
          </a:solidFill>
          <a:ln w="12700">
            <a:solidFill>
              <a:srgbClr val="F0ECFA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72384" y="2770632"/>
            <a:ext cx="149961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4846320" y="3063240"/>
            <a:ext cx="201168" cy="320040"/>
          </a:xfrm>
          <a:prstGeom prst="chevron">
            <a:avLst/>
          </a:prstGeom>
          <a:solidFill>
            <a:srgbClr val="6241B8"/>
          </a:solidFill>
          <a:ln w="12700">
            <a:solidFill>
              <a:srgbClr val="6241B8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93208" y="2606040"/>
            <a:ext cx="1956816" cy="1280160"/>
          </a:xfrm>
          <a:prstGeom prst="rect">
            <a:avLst/>
          </a:prstGeom>
          <a:solidFill>
            <a:srgbClr val="F0ECFA"/>
          </a:solidFill>
          <a:ln w="12700">
            <a:solidFill>
              <a:srgbClr val="F0ECFA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21808" y="2770632"/>
            <a:ext cx="149961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095744" y="3063240"/>
            <a:ext cx="201168" cy="320040"/>
          </a:xfrm>
          <a:prstGeom prst="chevron">
            <a:avLst/>
          </a:prstGeom>
          <a:solidFill>
            <a:srgbClr val="6241B8"/>
          </a:solidFill>
          <a:ln w="12700">
            <a:solidFill>
              <a:srgbClr val="6241B8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42632" y="2606040"/>
            <a:ext cx="1956816" cy="1280160"/>
          </a:xfrm>
          <a:prstGeom prst="rect">
            <a:avLst/>
          </a:prstGeom>
          <a:solidFill>
            <a:srgbClr val="F0ECFA"/>
          </a:solidFill>
          <a:ln w="12700">
            <a:solidFill>
              <a:srgbClr val="F0ECFA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71232" y="2770632"/>
            <a:ext cx="149961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9345168" y="3063240"/>
            <a:ext cx="201168" cy="320040"/>
          </a:xfrm>
          <a:prstGeom prst="chevron">
            <a:avLst/>
          </a:prstGeom>
          <a:solidFill>
            <a:srgbClr val="6241B8"/>
          </a:solidFill>
          <a:ln w="12700">
            <a:solidFill>
              <a:srgbClr val="6241B8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592056" y="2606040"/>
            <a:ext cx="1956816" cy="1280160"/>
          </a:xfrm>
          <a:prstGeom prst="rect">
            <a:avLst/>
          </a:prstGeom>
          <a:solidFill>
            <a:srgbClr val="F0ECFA"/>
          </a:solidFill>
          <a:ln w="12700">
            <a:solidFill>
              <a:srgbClr val="F0ECFA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820656" y="2770632"/>
            <a:ext cx="149961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21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Try the workflow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94360" y="566928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55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knowledge explicit. Check behavior. Reuse what works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94360" y="1920240"/>
            <a:ext cx="10972800" cy="804672"/>
          </a:xfrm>
          <a:prstGeom prst="rect">
            <a:avLst/>
          </a:prstGeom>
          <a:solidFill>
            <a:srgbClr val="F0ECFA"/>
          </a:solidFill>
          <a:ln w="12700">
            <a:solidFill>
              <a:srgbClr val="F0ECFA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2084832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repository link pending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94360" y="2971800"/>
            <a:ext cx="10972800" cy="804672"/>
          </a:xfrm>
          <a:prstGeom prst="rect">
            <a:avLst/>
          </a:prstGeom>
          <a:solidFill>
            <a:srgbClr val="F0ECFA"/>
          </a:solidFill>
          <a:ln w="12700">
            <a:solidFill>
              <a:srgbClr val="F0ECFA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3136392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agent skills docs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594360" y="4023360"/>
            <a:ext cx="10972800" cy="804672"/>
          </a:xfrm>
          <a:prstGeom prst="rect">
            <a:avLst/>
          </a:prstGeom>
          <a:solidFill>
            <a:srgbClr val="F0ECFA"/>
          </a:solidFill>
          <a:ln w="12700">
            <a:solidFill>
              <a:srgbClr val="F0ECFA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187952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41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upgrade docs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94360" y="5166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Q&amp;A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Synthetic demo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Tribal Knowledge to Code: Custom Skills for GitHub Copilot Modernization</dc:title>
  <dc:subject>Synthetic local dependency modernization with reusable organizational guidance</dc:subject>
  <dc:creator>Bruno Capuano</dc:creator>
  <cp:lastModifiedBy>Bruno Capuano</cp:lastModifiedBy>
  <cp:revision>1</cp:revision>
  <dcterms:created xsi:type="dcterms:W3CDTF">2026-09-28T20:52:22Z</dcterms:created>
  <dcterms:modified xsi:type="dcterms:W3CDTF">2026-09-28T20:52:22Z</dcterms:modified>
</cp:coreProperties>
</file>
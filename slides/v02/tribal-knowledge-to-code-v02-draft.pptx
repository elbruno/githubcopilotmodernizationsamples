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S01 | elapsed 0-3 minutes | Target: 3 minutes including host introduction
All application people, data, rules, and the audit component are synthetic.
- Every team has someone who says: yes, that code works, but we do not do it that way here
- Today we turn one of those explanations into explicit guidance and observable checks
- This is a synthetic .NET dependency/API migration, not an Azure migration
Show: PowerPoint title slide; keep unrelated desktop windows off the shared screen
Evidence: The runnable reference and legacy sample are real; independent Copilot captures are not-run
Transition: Let us start with a question: it compiles, but is it right for us?
Fallback: If the host handoff runs long, keep this introduction to one sentence
Source: docs/product-notes.md
Visual revision: v02 draft. Flare conceptual illustrations are not screenshots, run evidence, or official product artwork.
The presenter supplied the headshot for this introduction; it was embedded locally without image-service upload.
The v01 content, original slide files and original notes are preserved separately. Sunburst final-image generation has not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S02 | elapsed 3-5 minutes | Target: 2 minutes
All application people, data, rules, and the audit component are synthetic.
- Ask who has seen a successful build hide a business regression
- A partner quote for 33.35 times three should total 102.04, not just compile
- Show the rounding test early: the reference demonstrates a behavior, not agent superiority
Show: tests/Northwind.UnitTests/PricingTests.cs, midpoint case
Evidence: Concrete decimal rounding assertion and expected total 102.04
Transition: What are the explanations our team repeats when reviewing that change?
Fallback: Read the test from the file without starting a process
Source: tests/Northwind.UnitTests/PricingTests.cs
Visual revision: v02 draft. Flare conceptual illustrations are not screenshots, run evidence, or official product artwork.
The v01 content, original slide files and original notes are preserved separately. Sunburst final-image generation has not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S03 | elapsed 5-7 minutes | Target: 2 minutes
All application people, data, rules, and the audit component are synthetic.
- Introduce the fictional Northwind Outfitters Quote Service
- Partner discounts start at three; shipping follows the discounted net
- Consumers expect lowercase strings and an explicit null; logs must exclude customer data
- These behaviors are visible in the legacy source; the skill makes them discoverable and repeatable
Show: knowledge/team-notes.md beside the small source tree
Evidence: Synthetic notes map to R1-R4 in knowledge/rules-catalog.md
Transition: We do not need to paste everything into every prompt
Fallback: Use the four cards and tell one short fictional team story
Source: knowledge/team-notes.md
Visual revision: v02 draft. Flare conceptual illustrations are not screenshots, run evidence, or official product artwork.
The v01 content, original slide files and original notes are preserved separately. Sunburst final-image generation has not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S04 | elapsed 7-11 minutes | Target: 4 minutes
All application people, data, rules, and the audit component are synthetic.
- A prompt states today's desired change
- Repository instructions describe conventions that apply broadly
- A skill packages a relevant workflow and supporting examples
- Tests define repeatable checks; people still decide whether the change is appropriate
Show: .github/copilot-instructions.md, then the skill directory
Evidence: Separate files with separate responsibilities; no domain-rule wall in general instructions
Transition: First, let us give the migration task without adding the specialized context
Fallback: Explain the distinction directly from this slide; no host feature depends on it
Source: https://docs.github.com/en/copilot/concepts/agents/about-agent-skills
Visual revision: v02 draft. Flare conceptual illustrations are not screenshots, run evidence, or official product artwork.
The v01 content, original slide files and original notes are preserved separately. Sunburst final-image generation has not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S05 | elapsed 11-19 minutes | Target: 8 minutes
All application people, data, rules, and the audit component are synthetic.
- Open the isolated baseline root in a fresh app conversation, not this authoring repository
- Show the tiny working app, one request, and the exact prepared baseline prompt
- Review any real result fairly; a correct baseline is a valid outcome
- If no independent run exists, explicitly switch to the legacy/reference walkthrough
Show: Isolated baseline root; prompts/01-baseline.txt; src/Northwind.Quotes/QuoteJson.cs
Evidence: Input manifest and real output only; never call the reference a baseline capture
Transition: Now let us take one repeated explanation and make it actionable
Fallback: After 60-90 seconds, say: this is the prepared reference, not a captured Copilot run
Source: prompts/01-baseline.txt
Visual revision: v02 draft. Flare conceptual illustrations are not screenshots, run evidence, or official product artwork.
The v01 content, original slide files and original notes are preserved separately. Sunburst final-image generation has not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S06 | elapsed 19-23 minutes | Target: 4 minutes
All application people, data, rules, and the audit component are synthetic.
- Start with the fictional integration note: an absent review note still has a property
- Explain the difference between a preference and an observable contract
- Show the real serializer setting and the acceptance assertion
- Give one bad counterexample: ignoring nulls can silently change the response shape
Show: src/Northwind.Quotes/QuoteJson.cs and tests/Northwind.AcceptanceTests/ContractTests.cs
Evidence: Actual JsonIgnoreCondition.Never source excerpt; explicit null assertion
Transition: That rule is useful; the surrounding workflow makes it reusable
Fallback: The slide's source excerpt is copied directly by the generator
Source: src/Northwind.Quotes/QuoteJson.cs
Visual revision: v02 draft. Flare conceptual illustrations are not screenshots, run evidence, or official product artwork.
The v01 content, original slide files and original notes are preserved separately. Sunburst final-image generation has not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S07 | elapsed 23-27 minutes | Target: 4 minutes
All application people, data, rules, and the audit component are synthetic.
- Show the actual name and task-specific activation description
- The supporting references stay inside the skill package so exported links work
- Official docs describe relevance-based loading; this does not guarantee correct application
- The general app agent is the prepared route; dedicated Upgrade integration is unverified here
Show: .github/skills/northwind-modernization/SKILL.md and references/review-checklist.md
Evidence: Installed CLI skill inventory detects the project skill; that is not per-run activation telemetry
Transition: Now start again from the same input, with the skill supplied
Fallback: Open the files directly and disclose any explicit request to use the skill
Source: .github/skills/northwind-modernization/SKILL.md
Visual revision: v02 draft. Flare conceptual illustrations are not screenshots, run evidence, or official product artwork.
The v01 content, original slide files and original notes are preserved separately. Sunburst final-image generation has not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S08 | elapsed 27-41 minutes | Target: 14 minutes
All application people, data, rules, and the audit component are synthetic.
- Open the separately exported guided root in a fresh conversation
- Show matching starting source/test manifests and the four added skill files
- Paste the exact guided prompt and inspect available evidence of skill use without inventing logs
- Evaluate both results with the same external criteria; preserve failures and interventions
Show: Guided root; prompts/02-guided.txt; external scripts/compare.ps1
Evidence: Identical starting source, smoke tests and prompt core; different supplied context
Transition: Let us compare evidence rather than impressions
Fallback: Use the reference walkthrough with unit/acceptance tests; say no independent guided output was captured
Source: scripts/export-demo.ps1
Visual revision: v02 draft. Flare conceptual illustrations are not screenshots, run evidence, or official product artwork.
The v01 content, original slide files and original notes are preserved separately. Sunburst final-image generation has not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S09 | elapsed 41-44 minutes | Target: 3 minutes
All application people, data, rules, and the audit component are synthetic.
- Both independent capture manifests currently say not-run
- Show the real not-run report rather than a placeholder success table
- The reference passes defined checks but is not evidence of generated-agent performance
- If both future candidates pass, show that; if guided fails, preserve and diagnose it
Show: demos/captures/baseline.json, guided.json; actual comparison.md
Evidence: Four allowed statuses: pass, fail, not-run, blocked; finite checks are not a compliance guarantee
Transition: The reusable asset is not a winning screenshot; it is a shared team practice
Fallback: Keep the checklist and explicitly say the independent experiment has not run
Source: scripts/compare.ps1
Visual revision: v02 draft. Flare conceptual illustrations are not screenshots, run evidence, or official product artwork.
The v01 content, original slide files and original notes are preserved separately. Sunburst final-image generation has not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S10 | elapsed 44-47 minutes | Target: 3 minutes
All application people, data, rules, and the audit component are synthetic.
- Put the skill and examples under source control with the code they guide
- Assign an owner and update examples when the contract changes
- Review skills as executable-workflow guidance, including scripts and tool permissions
- The optional reuse prompt is a stretch exercise, not a second application
Show: docs/maintenance.md; optionally prompts/04-reuse.txt without executing it
Evidence: Rule-to-test ownership and change checklist, not promised deterministic generation
Transition: You can start much smaller than a complete company standards catalog
Fallback: Cut the optional reuse explanation if time is short
Source: docs/maintenance.md
Visual revision: v02 draft. Flare conceptual illustrations are not screenshots, run evidence, or official product artwork.
The v01 content, original slide files and original notes are preserved separately. Sunburst final-image generation has not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S11 | elapsed 47-50 minutes | Target: 3 minutes
All application people, data, rules, and the audit component are synthetic.
- Choose one modernization task you already understand
- Write down the rule you explain every code review
- Add a good example, a counterexample, and evidence that would convince a reviewer
- Reuse it on another small change and refine it from actual failures
Show: Skill reference checklist; keep focus on the attendee's first next action
Evidence: One actionable rule can be checked; a vague paragraph cannot
Transition: Here are the resources and the three things I hope you take away
Fallback: Give the closing action verbatim and move to resources
Source: .github/skills/northwind-modernization/references/review-checklist.md
Visual revision: v02 draft. Flare conceptual illustrations are not screenshots, run evidence, or official product artwork.
The v01 content, original slide files and original notes are preserved separately. Sunburst final-image generation has not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S12 | elapsed 50-52 minutes | Target: 2 minutes, then keep visible for Q&amp;A until minute 60
All application people, data, rules, and the audit component are synthetic.
- The attendee repository is staged locally; its public URL must be verified before delivery
- Official skills and upgrade documentation are linked in the notes and resources file
- Close: pick one modernization task, capture one repeated rule, encode it in a skill, review, reuse
- Keep this slide visible for Q&amp;A; do not claim public availability until it is verified
Show: docs/resources.md; Q&amp;A answers in demos/runbook.md
Evidence: Verified official links; no fabricated sample URL or QR code
Transition: What is one rule your team keeps explaining?
Fallback: Direct attendees to the official docs; say the sample link will be supplied after access is verified
Source: https://docs.github.com/en/copilot/concepts/agents/about-agent-skills
https://docs.github.com/en/copilot/concepts/agents/about-agent-skills
https://learn.microsoft.com/en-us/dotnet/core/porting/github-copilot-upgrade/overview
Visual revision: v02 draft. Flare conceptual illustrations are not screenshots, run evidence, or official product artwork.
The v01 content, original slide files and original notes are preserved separately. Sunburst final-image generation has not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ithub.com/en/copilot/concepts/agents/about-agent-skills" TargetMode="External"/><Relationship Id="rId2" Type="http://schemas.openxmlformats.org/officeDocument/2006/relationships/hyperlink" Target="https://learn.microsoft.com/en-us/dotnet/core/porting/github-copilot-upgrade/overview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961888"/>
            <a:ext cx="10972800" cy="530352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6007608"/>
            <a:ext cx="10625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team knowledge into a reviewable change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94360" y="2926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SKILLS / GITHUB COPILOT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9601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Tribal Knowledge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Code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21792" y="292608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Skills for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Modernization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621792" y="4279392"/>
            <a:ext cx="4937760" cy="530352"/>
          </a:xfrm>
          <a:prstGeom prst="rect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" y="4315968"/>
            <a:ext cx="4700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Bruno Capuano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21792" y="495604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practical, demo-driven session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8247888" y="1024128"/>
            <a:ext cx="3246120" cy="4462272"/>
          </a:xfrm>
          <a:prstGeom prst="rect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pic>
        <p:nvPicPr>
          <p:cNvPr id="12" name="Image 0" descr="Bruno Capuano, presenter-supplied photograp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56448" y="932688"/>
            <a:ext cx="3246120" cy="446227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156448" y="932688"/>
            <a:ext cx="3246120" cy="446227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9064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REAL QUESTION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compiles.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 it right for us?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744200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3072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81944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00816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9688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0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57432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63072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81944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00816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19688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38560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57432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44200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81944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00816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19688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338560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57432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5961888"/>
            <a:ext cx="10972800" cy="530352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6007608"/>
            <a:ext cx="10625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build is a starting point, not the whole review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658368" y="2212848"/>
            <a:ext cx="4892040" cy="3291840"/>
          </a:xfrm>
          <a:prstGeom prst="rect">
            <a:avLst/>
          </a:prstGeom>
          <a:solidFill>
            <a:srgbClr val="EEEAFB"/>
          </a:solidFill>
          <a:ln w="16510">
            <a:solidFill>
              <a:srgbClr val="19064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32688" y="24963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QUOTE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932688" y="3072384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x 33.35 = 100.05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932688" y="3648456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 discount: -10.01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932688" y="414223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Shipping: +12.00</a:t>
            </a:r>
            <a:endParaRPr lang="en-US" sz="2400" dirty="0"/>
          </a:p>
        </p:txBody>
      </p:sp>
      <p:sp>
        <p:nvSpPr>
          <p:cNvPr id="33" name="Text 30"/>
          <p:cNvSpPr/>
          <p:nvPr/>
        </p:nvSpPr>
        <p:spPr>
          <a:xfrm>
            <a:off x="932688" y="4700016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 102.04</a:t>
            </a:r>
            <a:endParaRPr lang="en-US" sz="3800" dirty="0"/>
          </a:p>
        </p:txBody>
      </p:sp>
      <p:sp>
        <p:nvSpPr>
          <p:cNvPr id="34" name="Text 31"/>
          <p:cNvSpPr/>
          <p:nvPr/>
        </p:nvSpPr>
        <p:spPr>
          <a:xfrm>
            <a:off x="6080760" y="22860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</a:t>
            </a:r>
            <a:endParaRPr lang="en-US" sz="3000" dirty="0"/>
          </a:p>
        </p:txBody>
      </p:sp>
      <p:sp>
        <p:nvSpPr>
          <p:cNvPr id="35" name="Text 32"/>
          <p:cNvSpPr/>
          <p:nvPr/>
        </p:nvSpPr>
        <p:spPr>
          <a:xfrm>
            <a:off x="6080760" y="277063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it build?</a:t>
            </a:r>
            <a:endParaRPr lang="en-US" sz="2600" dirty="0"/>
          </a:p>
        </p:txBody>
      </p:sp>
      <p:sp>
        <p:nvSpPr>
          <p:cNvPr id="36" name="Text 33"/>
          <p:cNvSpPr/>
          <p:nvPr/>
        </p:nvSpPr>
        <p:spPr>
          <a:xfrm>
            <a:off x="6080760" y="341071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</a:t>
            </a:r>
            <a:endParaRPr lang="en-US" sz="3000" dirty="0"/>
          </a:p>
        </p:txBody>
      </p:sp>
      <p:sp>
        <p:nvSpPr>
          <p:cNvPr id="37" name="Text 34"/>
          <p:cNvSpPr/>
          <p:nvPr/>
        </p:nvSpPr>
        <p:spPr>
          <a:xfrm>
            <a:off x="6080760" y="389534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pricing stay correct?</a:t>
            </a:r>
            <a:endParaRPr lang="en-US" sz="2600" dirty="0"/>
          </a:p>
        </p:txBody>
      </p:sp>
      <p:sp>
        <p:nvSpPr>
          <p:cNvPr id="38" name="Text 35"/>
          <p:cNvSpPr/>
          <p:nvPr/>
        </p:nvSpPr>
        <p:spPr>
          <a:xfrm>
            <a:off x="6080760" y="453542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Organizational</a:t>
            </a:r>
            <a:endParaRPr lang="en-US" sz="3000" dirty="0"/>
          </a:p>
        </p:txBody>
      </p:sp>
      <p:sp>
        <p:nvSpPr>
          <p:cNvPr id="39" name="Text 36"/>
          <p:cNvSpPr/>
          <p:nvPr/>
        </p:nvSpPr>
        <p:spPr>
          <a:xfrm>
            <a:off x="6080760" y="50200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it follow our rules?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FICTIONAL TEAM / A REAL PATTERN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rules outside the prompt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744200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3072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81944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00816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9688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0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57432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63072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81944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00816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19688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38560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57432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44200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81944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00816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19688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338560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57432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5961888"/>
            <a:ext cx="10972800" cy="530352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6007608"/>
            <a:ext cx="10625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source contains clues. The skill captures intent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658368" y="2066544"/>
            <a:ext cx="493776" cy="493776"/>
          </a:xfrm>
          <a:prstGeom prst="rect">
            <a:avLst/>
          </a:prstGeom>
          <a:solidFill>
            <a:srgbClr val="512BD4"/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4944" y="208483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1353312" y="1993392"/>
            <a:ext cx="5303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exceptions</a:t>
            </a:r>
            <a:endParaRPr lang="en-US" sz="2900" dirty="0"/>
          </a:p>
        </p:txBody>
      </p:sp>
      <p:sp>
        <p:nvSpPr>
          <p:cNvPr id="31" name="Text 28"/>
          <p:cNvSpPr/>
          <p:nvPr/>
        </p:nvSpPr>
        <p:spPr>
          <a:xfrm>
            <a:off x="1353312" y="2468880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Discounts and shipping thresholds</a:t>
            </a:r>
            <a:endParaRPr lang="en-US" sz="2400" dirty="0"/>
          </a:p>
        </p:txBody>
      </p:sp>
      <p:sp>
        <p:nvSpPr>
          <p:cNvPr id="32" name="Shape 29"/>
          <p:cNvSpPr/>
          <p:nvPr/>
        </p:nvSpPr>
        <p:spPr>
          <a:xfrm>
            <a:off x="658368" y="2999232"/>
            <a:ext cx="493776" cy="493776"/>
          </a:xfrm>
          <a:prstGeom prst="rect">
            <a:avLst/>
          </a:prstGeom>
          <a:solidFill>
            <a:srgbClr val="512BD4"/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4944" y="301752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R2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1353312" y="2926080"/>
            <a:ext cx="5303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Compatibility contract</a:t>
            </a:r>
            <a:endParaRPr lang="en-US" sz="2900" dirty="0"/>
          </a:p>
        </p:txBody>
      </p:sp>
      <p:sp>
        <p:nvSpPr>
          <p:cNvPr id="35" name="Text 32"/>
          <p:cNvSpPr/>
          <p:nvPr/>
        </p:nvSpPr>
        <p:spPr>
          <a:xfrm>
            <a:off x="1353312" y="340156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Enums, nulls and field names</a:t>
            </a:r>
            <a:endParaRPr lang="en-US" sz="2400" dirty="0"/>
          </a:p>
        </p:txBody>
      </p:sp>
      <p:sp>
        <p:nvSpPr>
          <p:cNvPr id="36" name="Shape 33"/>
          <p:cNvSpPr/>
          <p:nvPr/>
        </p:nvSpPr>
        <p:spPr>
          <a:xfrm>
            <a:off x="658368" y="3931920"/>
            <a:ext cx="493776" cy="493776"/>
          </a:xfrm>
          <a:prstGeom prst="rect">
            <a:avLst/>
          </a:prstGeom>
          <a:solidFill>
            <a:srgbClr val="512BD4"/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94944" y="3950208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</a:t>
            </a:r>
            <a:endParaRPr lang="en-US" sz="2400" dirty="0"/>
          </a:p>
        </p:txBody>
      </p:sp>
      <p:sp>
        <p:nvSpPr>
          <p:cNvPr id="38" name="Text 35"/>
          <p:cNvSpPr/>
          <p:nvPr/>
        </p:nvSpPr>
        <p:spPr>
          <a:xfrm>
            <a:off x="1353312" y="3858768"/>
            <a:ext cx="5303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audit path</a:t>
            </a:r>
            <a:endParaRPr lang="en-US" sz="2900" dirty="0"/>
          </a:p>
        </p:txBody>
      </p:sp>
      <p:sp>
        <p:nvSpPr>
          <p:cNvPr id="39" name="Text 36"/>
          <p:cNvSpPr/>
          <p:nvPr/>
        </p:nvSpPr>
        <p:spPr>
          <a:xfrm>
            <a:off x="1353312" y="4334256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abstraction, safe event fields</a:t>
            </a:r>
            <a:endParaRPr lang="en-US" sz="2400" dirty="0"/>
          </a:p>
        </p:txBody>
      </p:sp>
      <p:sp>
        <p:nvSpPr>
          <p:cNvPr id="40" name="Shape 37"/>
          <p:cNvSpPr/>
          <p:nvPr/>
        </p:nvSpPr>
        <p:spPr>
          <a:xfrm>
            <a:off x="658368" y="4864608"/>
            <a:ext cx="493776" cy="493776"/>
          </a:xfrm>
          <a:prstGeom prst="rect">
            <a:avLst/>
          </a:prstGeom>
          <a:solidFill>
            <a:srgbClr val="512BD4"/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4944" y="4882896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R4</a:t>
            </a:r>
            <a:endParaRPr lang="en-US" sz="2400" dirty="0"/>
          </a:p>
        </p:txBody>
      </p:sp>
      <p:sp>
        <p:nvSpPr>
          <p:cNvPr id="42" name="Text 39"/>
          <p:cNvSpPr/>
          <p:nvPr/>
        </p:nvSpPr>
        <p:spPr>
          <a:xfrm>
            <a:off x="1353312" y="4791456"/>
            <a:ext cx="5303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diagnostics</a:t>
            </a:r>
            <a:endParaRPr lang="en-US" sz="2900" dirty="0"/>
          </a:p>
        </p:txBody>
      </p:sp>
      <p:sp>
        <p:nvSpPr>
          <p:cNvPr id="43" name="Text 40"/>
          <p:cNvSpPr/>
          <p:nvPr/>
        </p:nvSpPr>
        <p:spPr>
          <a:xfrm>
            <a:off x="1353312" y="5266944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customer data on failure</a:t>
            </a:r>
            <a:endParaRPr lang="en-US" sz="2400" dirty="0"/>
          </a:p>
        </p:txBody>
      </p:sp>
      <p:sp>
        <p:nvSpPr>
          <p:cNvPr id="44" name="Shape 41"/>
          <p:cNvSpPr/>
          <p:nvPr/>
        </p:nvSpPr>
        <p:spPr>
          <a:xfrm>
            <a:off x="7662672" y="2029968"/>
            <a:ext cx="3657600" cy="3657600"/>
          </a:xfrm>
          <a:prstGeom prst="rect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589520" y="1956816"/>
            <a:ext cx="3657600" cy="3657600"/>
          </a:xfrm>
          <a:prstGeom prst="rect">
            <a:avLst/>
          </a:prstGeom>
          <a:solidFill>
            <a:srgbClr val="FFFFFF"/>
          </a:solidFill>
          <a:ln w="16510">
            <a:solidFill>
              <a:srgbClr val="190649"/>
            </a:solidFill>
            <a:prstDash val="solid"/>
          </a:ln>
        </p:spPr>
      </p:sp>
      <p:pic>
        <p:nvPicPr>
          <p:cNvPr id="46" name="Image 0" descr="Conceptual illustration of scattered notes becoming an organized reusable gui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1524" y="1988820"/>
            <a:ext cx="3593592" cy="35935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TOOLS / DIFFERENT JOBS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Put knowledge where it belongs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744200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3072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81944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00816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9688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0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57432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63072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81944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00816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19688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38560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57432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44200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81944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00816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19688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338560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57432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5961888"/>
            <a:ext cx="10972800" cy="530352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6007608"/>
            <a:ext cx="10625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right context, then check the result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658368" y="2075688"/>
            <a:ext cx="10881360" cy="676656"/>
          </a:xfrm>
          <a:prstGeom prst="rect">
            <a:avLst/>
          </a:prstGeom>
          <a:solidFill>
            <a:srgbClr val="FFFFFF"/>
          </a:solidFill>
          <a:ln w="16510">
            <a:solidFill>
              <a:srgbClr val="19064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77824" y="2157984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2900" dirty="0"/>
          </a:p>
        </p:txBody>
      </p:sp>
      <p:sp>
        <p:nvSpPr>
          <p:cNvPr id="30" name="Text 27"/>
          <p:cNvSpPr/>
          <p:nvPr/>
        </p:nvSpPr>
        <p:spPr>
          <a:xfrm>
            <a:off x="3566160" y="21579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Today's task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7708392" y="2167128"/>
            <a:ext cx="3593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the library</a:t>
            </a:r>
            <a:endParaRPr lang="en-US" sz="2400" dirty="0"/>
          </a:p>
        </p:txBody>
      </p:sp>
      <p:sp>
        <p:nvSpPr>
          <p:cNvPr id="32" name="Shape 29"/>
          <p:cNvSpPr/>
          <p:nvPr/>
        </p:nvSpPr>
        <p:spPr>
          <a:xfrm>
            <a:off x="658368" y="2862072"/>
            <a:ext cx="10881360" cy="676656"/>
          </a:xfrm>
          <a:prstGeom prst="rect">
            <a:avLst/>
          </a:prstGeom>
          <a:solidFill>
            <a:srgbClr val="FFFFFF"/>
          </a:solidFill>
          <a:ln w="16510">
            <a:solidFill>
              <a:srgbClr val="19064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7824" y="2944368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Instructions</a:t>
            </a:r>
            <a:endParaRPr lang="en-US" sz="2900" dirty="0"/>
          </a:p>
        </p:txBody>
      </p:sp>
      <p:sp>
        <p:nvSpPr>
          <p:cNvPr id="34" name="Text 31"/>
          <p:cNvSpPr/>
          <p:nvPr/>
        </p:nvSpPr>
        <p:spPr>
          <a:xfrm>
            <a:off x="3566160" y="294436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conventions</a:t>
            </a:r>
            <a:endParaRPr lang="en-US" sz="2600" dirty="0"/>
          </a:p>
        </p:txBody>
      </p:sp>
      <p:sp>
        <p:nvSpPr>
          <p:cNvPr id="35" name="Text 32"/>
          <p:cNvSpPr/>
          <p:nvPr/>
        </p:nvSpPr>
        <p:spPr>
          <a:xfrm>
            <a:off x="7708392" y="2953512"/>
            <a:ext cx="3593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and safety</a:t>
            </a:r>
            <a:endParaRPr lang="en-US" sz="2400" dirty="0"/>
          </a:p>
        </p:txBody>
      </p:sp>
      <p:sp>
        <p:nvSpPr>
          <p:cNvPr id="36" name="Shape 33"/>
          <p:cNvSpPr/>
          <p:nvPr/>
        </p:nvSpPr>
        <p:spPr>
          <a:xfrm>
            <a:off x="658368" y="3648456"/>
            <a:ext cx="10881360" cy="676656"/>
          </a:xfrm>
          <a:prstGeom prst="rect">
            <a:avLst/>
          </a:prstGeom>
          <a:solidFill>
            <a:srgbClr val="EEEAFB"/>
          </a:solidFill>
          <a:ln w="16510">
            <a:solidFill>
              <a:srgbClr val="19064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77824" y="3730752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</a:t>
            </a:r>
            <a:endParaRPr lang="en-US" sz="2900" dirty="0"/>
          </a:p>
        </p:txBody>
      </p:sp>
      <p:sp>
        <p:nvSpPr>
          <p:cNvPr id="38" name="Text 35"/>
          <p:cNvSpPr/>
          <p:nvPr/>
        </p:nvSpPr>
        <p:spPr>
          <a:xfrm>
            <a:off x="3566160" y="373075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Specialized workflow</a:t>
            </a:r>
            <a:endParaRPr lang="en-US" sz="2600" dirty="0"/>
          </a:p>
        </p:txBody>
      </p:sp>
      <p:sp>
        <p:nvSpPr>
          <p:cNvPr id="39" name="Text 36"/>
          <p:cNvSpPr/>
          <p:nvPr/>
        </p:nvSpPr>
        <p:spPr>
          <a:xfrm>
            <a:off x="7708392" y="3739896"/>
            <a:ext cx="3593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and examples</a:t>
            </a:r>
            <a:endParaRPr lang="en-US" sz="2400" dirty="0"/>
          </a:p>
        </p:txBody>
      </p:sp>
      <p:sp>
        <p:nvSpPr>
          <p:cNvPr id="40" name="Shape 37"/>
          <p:cNvSpPr/>
          <p:nvPr/>
        </p:nvSpPr>
        <p:spPr>
          <a:xfrm>
            <a:off x="658368" y="4434840"/>
            <a:ext cx="10881360" cy="676656"/>
          </a:xfrm>
          <a:prstGeom prst="rect">
            <a:avLst/>
          </a:prstGeom>
          <a:solidFill>
            <a:srgbClr val="FFFFFF"/>
          </a:solidFill>
          <a:ln w="16510">
            <a:solidFill>
              <a:srgbClr val="19064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77824" y="4517136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+ CI</a:t>
            </a:r>
            <a:endParaRPr lang="en-US" sz="2900" dirty="0"/>
          </a:p>
        </p:txBody>
      </p:sp>
      <p:sp>
        <p:nvSpPr>
          <p:cNvPr id="42" name="Text 39"/>
          <p:cNvSpPr/>
          <p:nvPr/>
        </p:nvSpPr>
        <p:spPr>
          <a:xfrm>
            <a:off x="3566160" y="451713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Observable evidence</a:t>
            </a:r>
            <a:endParaRPr lang="en-US" sz="2600" dirty="0"/>
          </a:p>
        </p:txBody>
      </p:sp>
      <p:sp>
        <p:nvSpPr>
          <p:cNvPr id="43" name="Text 40"/>
          <p:cNvSpPr/>
          <p:nvPr/>
        </p:nvSpPr>
        <p:spPr>
          <a:xfrm>
            <a:off x="7708392" y="4526280"/>
            <a:ext cx="3593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Defined pass / fail</a:t>
            </a:r>
            <a:endParaRPr lang="en-US" sz="2400" dirty="0"/>
          </a:p>
        </p:txBody>
      </p:sp>
      <p:sp>
        <p:nvSpPr>
          <p:cNvPr id="44" name="Text 41"/>
          <p:cNvSpPr/>
          <p:nvPr/>
        </p:nvSpPr>
        <p:spPr>
          <a:xfrm>
            <a:off x="658368" y="528523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   &gt;    Plan    &gt;    Change    &gt;    Review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/ FIRST PASS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Modernize the library,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the business rules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744200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3072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81944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00816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9688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0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57432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63072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81944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00816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19688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38560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57432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44200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81944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00816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19688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338560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57432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5961888"/>
            <a:ext cx="10972800" cy="530352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6007608"/>
            <a:ext cx="10625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the actual diff, whether it succeeds or fails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658368" y="2103120"/>
            <a:ext cx="6126480" cy="530352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2139696"/>
            <a:ext cx="5888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/ NOT-RUN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822960" y="2816352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Newtonsoft.Json</a:t>
            </a:r>
            <a:endParaRPr lang="en-US" sz="3400" dirty="0"/>
          </a:p>
        </p:txBody>
      </p:sp>
      <p:sp>
        <p:nvSpPr>
          <p:cNvPr id="31" name="Shape 28"/>
          <p:cNvSpPr/>
          <p:nvPr/>
        </p:nvSpPr>
        <p:spPr>
          <a:xfrm rot="5400000">
            <a:off x="3529584" y="3566160"/>
            <a:ext cx="438912" cy="292608"/>
          </a:xfrm>
          <a:prstGeom prst="rightArrow">
            <a:avLst/>
          </a:prstGeom>
          <a:solidFill>
            <a:srgbClr val="512BD4"/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2960" y="4087368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System.Text.Json</a:t>
            </a:r>
            <a:endParaRPr lang="en-US" sz="3400" dirty="0"/>
          </a:p>
        </p:txBody>
      </p:sp>
      <p:sp>
        <p:nvSpPr>
          <p:cNvPr id="33" name="Text 30"/>
          <p:cNvSpPr/>
          <p:nvPr/>
        </p:nvSpPr>
        <p:spPr>
          <a:xfrm>
            <a:off x="822960" y="4809744"/>
            <a:ext cx="5852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change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observable behavior</a:t>
            </a:r>
            <a:endParaRPr lang="en-US" sz="2600" dirty="0"/>
          </a:p>
        </p:txBody>
      </p:sp>
      <p:sp>
        <p:nvSpPr>
          <p:cNvPr id="34" name="Shape 31"/>
          <p:cNvSpPr/>
          <p:nvPr/>
        </p:nvSpPr>
        <p:spPr>
          <a:xfrm>
            <a:off x="7662672" y="2029968"/>
            <a:ext cx="3657600" cy="3657600"/>
          </a:xfrm>
          <a:prstGeom prst="rect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589520" y="1956816"/>
            <a:ext cx="3657600" cy="3657600"/>
          </a:xfrm>
          <a:prstGeom prst="rect">
            <a:avLst/>
          </a:prstGeom>
          <a:solidFill>
            <a:srgbClr val="FFFFFF"/>
          </a:solidFill>
          <a:ln w="16510">
            <a:solidFill>
              <a:srgbClr val="190649"/>
            </a:solidFill>
            <a:prstDash val="solid"/>
          </a:ln>
        </p:spPr>
      </p:sp>
      <p:pic>
        <p:nvPicPr>
          <p:cNvPr id="36" name="Image 0" descr="Conceptual illustration of a careful component swap that preserves the surrounding system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1524" y="1988820"/>
            <a:ext cx="3593592" cy="35935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TEAM NOTE TO ACCEPTANCE CRITERION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one rule actionable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744200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3072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81944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00816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9688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0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57432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63072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81944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00816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19688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38560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57432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44200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81944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00816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19688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338560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57432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5961888"/>
            <a:ext cx="10972800" cy="530352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6007608"/>
            <a:ext cx="10625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the contract, not the serializer defaults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658368" y="2212848"/>
            <a:ext cx="5074920" cy="3337560"/>
          </a:xfrm>
          <a:prstGeom prst="rect">
            <a:avLst/>
          </a:prstGeom>
          <a:solidFill>
            <a:srgbClr val="EEEAFB"/>
          </a:solidFill>
          <a:ln w="16510">
            <a:solidFill>
              <a:srgbClr val="19064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" y="24323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TEAM NOTE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914400" y="30632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"No note yet" still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a property</a:t>
            </a:r>
            <a:endParaRPr lang="en-US" sz="3200" dirty="0"/>
          </a:p>
        </p:txBody>
      </p:sp>
      <p:sp>
        <p:nvSpPr>
          <p:cNvPr id="31" name="Text 28"/>
          <p:cNvSpPr/>
          <p:nvPr/>
        </p:nvSpPr>
        <p:spPr>
          <a:xfrm>
            <a:off x="914400" y="451713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field, optional value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6245352" y="240487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CONTRACT</a:t>
            </a:r>
            <a:endParaRPr lang="en-US" sz="2400" dirty="0"/>
          </a:p>
        </p:txBody>
      </p:sp>
      <p:sp>
        <p:nvSpPr>
          <p:cNvPr id="33" name="Text 30"/>
          <p:cNvSpPr/>
          <p:nvPr/>
        </p:nvSpPr>
        <p:spPr>
          <a:xfrm>
            <a:off x="6245352" y="3090672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06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"review_note": null</a:t>
            </a:r>
            <a:endParaRPr lang="en-US" sz="2900" dirty="0"/>
          </a:p>
        </p:txBody>
      </p:sp>
      <p:sp>
        <p:nvSpPr>
          <p:cNvPr id="34" name="Text 31"/>
          <p:cNvSpPr/>
          <p:nvPr/>
        </p:nvSpPr>
        <p:spPr>
          <a:xfrm>
            <a:off x="6245352" y="3968496"/>
            <a:ext cx="50749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06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DefaultIgnoreCondition =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906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JsonIgnoreCondition.Never</a:t>
            </a:r>
            <a:endParaRPr lang="en-US" sz="2400" dirty="0"/>
          </a:p>
        </p:txBody>
      </p:sp>
      <p:sp>
        <p:nvSpPr>
          <p:cNvPr id="35" name="Text 32"/>
          <p:cNvSpPr/>
          <p:nvPr/>
        </p:nvSpPr>
        <p:spPr>
          <a:xfrm>
            <a:off x="6245352" y="515721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 the parsed JSON shape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REUSABLE SKILL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Package the know-how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744200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3072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81944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00816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9688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0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57432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63072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81944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00816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19688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38560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57432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44200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81944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00816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19688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338560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57432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5961888"/>
            <a:ext cx="10972800" cy="530352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6007608"/>
            <a:ext cx="10625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Guidance and resources, not guaranteed enforcement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658368" y="2194560"/>
            <a:ext cx="6126480" cy="1234440"/>
          </a:xfrm>
          <a:prstGeom prst="rect">
            <a:avLst/>
          </a:prstGeom>
          <a:solidFill>
            <a:srgbClr val="EEEAFB"/>
          </a:solidFill>
          <a:ln w="16510">
            <a:solidFill>
              <a:srgbClr val="19064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" y="2350008"/>
            <a:ext cx="5605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SKILL.md</a:t>
            </a:r>
            <a:endParaRPr lang="en-US" sz="3000" dirty="0"/>
          </a:p>
        </p:txBody>
      </p:sp>
      <p:sp>
        <p:nvSpPr>
          <p:cNvPr id="30" name="Text 27"/>
          <p:cNvSpPr/>
          <p:nvPr/>
        </p:nvSpPr>
        <p:spPr>
          <a:xfrm>
            <a:off x="914400" y="2834640"/>
            <a:ext cx="5605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2B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northwind-modernization</a:t>
            </a:r>
            <a:endParaRPr lang="en-US" sz="2400" dirty="0"/>
          </a:p>
        </p:txBody>
      </p:sp>
      <p:sp>
        <p:nvSpPr>
          <p:cNvPr id="31" name="Text 28"/>
          <p:cNvSpPr/>
          <p:nvPr/>
        </p:nvSpPr>
        <p:spPr>
          <a:xfrm>
            <a:off x="868680" y="3703320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references</a:t>
            </a:r>
            <a:endParaRPr lang="en-US" sz="2900" dirty="0"/>
          </a:p>
        </p:txBody>
      </p:sp>
      <p:sp>
        <p:nvSpPr>
          <p:cNvPr id="32" name="Text 29"/>
          <p:cNvSpPr/>
          <p:nvPr/>
        </p:nvSpPr>
        <p:spPr>
          <a:xfrm>
            <a:off x="868680" y="4206240"/>
            <a:ext cx="55778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and contract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and privacy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checklist</a:t>
            </a:r>
            <a:endParaRPr lang="en-US" sz="2600" dirty="0"/>
          </a:p>
        </p:txBody>
      </p:sp>
      <p:sp>
        <p:nvSpPr>
          <p:cNvPr id="33" name="Shape 30"/>
          <p:cNvSpPr/>
          <p:nvPr/>
        </p:nvSpPr>
        <p:spPr>
          <a:xfrm>
            <a:off x="7662672" y="2029968"/>
            <a:ext cx="3657600" cy="3657600"/>
          </a:xfrm>
          <a:prstGeom prst="rect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589520" y="1956816"/>
            <a:ext cx="3657600" cy="3657600"/>
          </a:xfrm>
          <a:prstGeom prst="rect">
            <a:avLst/>
          </a:prstGeom>
          <a:solidFill>
            <a:srgbClr val="FFFFFF"/>
          </a:solidFill>
          <a:ln w="16510">
            <a:solidFill>
              <a:srgbClr val="190649"/>
            </a:solidFill>
            <a:prstDash val="solid"/>
          </a:ln>
        </p:spPr>
      </p:sp>
      <p:pic>
        <p:nvPicPr>
          <p:cNvPr id="35" name="Image 0" descr="Conceptual illustration of a robot placing a blank guidance card into a reusable toolki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1524" y="1988820"/>
            <a:ext cx="3593592" cy="35935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/ GUIDED PASS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Same task.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Explicit team context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744200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3072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81944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00816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9688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0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57432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63072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81944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00816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19688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38560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57432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44200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81944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00816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19688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338560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57432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5961888"/>
            <a:ext cx="10972800" cy="530352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6007608"/>
            <a:ext cx="10625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the supplied context, not the starting code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658368" y="2139696"/>
            <a:ext cx="6126480" cy="530352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2176272"/>
            <a:ext cx="5888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/ NOT-RUN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658368" y="2880360"/>
            <a:ext cx="6126480" cy="950976"/>
          </a:xfrm>
          <a:prstGeom prst="rect">
            <a:avLst/>
          </a:prstGeom>
          <a:solidFill>
            <a:srgbClr val="FFFFFF"/>
          </a:solidFill>
          <a:ln w="16510">
            <a:solidFill>
              <a:srgbClr val="19064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77824" y="30815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matching source / test files</a:t>
            </a:r>
            <a:endParaRPr lang="en-US" sz="2800" dirty="0"/>
          </a:p>
        </p:txBody>
      </p:sp>
      <p:sp>
        <p:nvSpPr>
          <p:cNvPr id="32" name="Shape 29"/>
          <p:cNvSpPr/>
          <p:nvPr/>
        </p:nvSpPr>
        <p:spPr>
          <a:xfrm>
            <a:off x="658368" y="4096512"/>
            <a:ext cx="6126480" cy="950976"/>
          </a:xfrm>
          <a:prstGeom prst="rect">
            <a:avLst/>
          </a:prstGeom>
          <a:solidFill>
            <a:srgbClr val="EEEAFB"/>
          </a:solidFill>
          <a:ln w="16510">
            <a:solidFill>
              <a:srgbClr val="19064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7824" y="42976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+ 4 self-contained skill files</a:t>
            </a:r>
            <a:endParaRPr lang="en-US" sz="2800" dirty="0"/>
          </a:p>
        </p:txBody>
      </p:sp>
      <p:sp>
        <p:nvSpPr>
          <p:cNvPr id="34" name="Text 31"/>
          <p:cNvSpPr/>
          <p:nvPr/>
        </p:nvSpPr>
        <p:spPr>
          <a:xfrm>
            <a:off x="877824" y="5212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 conversation. Same core prompt</a:t>
            </a:r>
            <a:endParaRPr lang="en-US" sz="2400" dirty="0"/>
          </a:p>
        </p:txBody>
      </p:sp>
      <p:sp>
        <p:nvSpPr>
          <p:cNvPr id="35" name="Shape 32"/>
          <p:cNvSpPr/>
          <p:nvPr/>
        </p:nvSpPr>
        <p:spPr>
          <a:xfrm>
            <a:off x="7726680" y="2267712"/>
            <a:ext cx="3520440" cy="612648"/>
          </a:xfrm>
          <a:prstGeom prst="rect">
            <a:avLst/>
          </a:prstGeom>
          <a:solidFill>
            <a:srgbClr val="EEEAFB"/>
          </a:solidFill>
          <a:ln w="16510">
            <a:solidFill>
              <a:srgbClr val="19064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27848" y="2340864"/>
            <a:ext cx="3118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</a:t>
            </a:r>
            <a:endParaRPr lang="en-US" sz="2800" dirty="0"/>
          </a:p>
        </p:txBody>
      </p:sp>
      <p:sp>
        <p:nvSpPr>
          <p:cNvPr id="37" name="Shape 34"/>
          <p:cNvSpPr/>
          <p:nvPr/>
        </p:nvSpPr>
        <p:spPr>
          <a:xfrm rot="5400000">
            <a:off x="9363456" y="2962656"/>
            <a:ext cx="246888" cy="137160"/>
          </a:xfrm>
          <a:prstGeom prst="rightArrow">
            <a:avLst/>
          </a:prstGeom>
          <a:solidFill>
            <a:srgbClr val="512BD4"/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726680" y="3163824"/>
            <a:ext cx="3520440" cy="612648"/>
          </a:xfrm>
          <a:prstGeom prst="rect">
            <a:avLst/>
          </a:prstGeom>
          <a:solidFill>
            <a:srgbClr val="FFFFFF"/>
          </a:solidFill>
          <a:ln w="16510">
            <a:solidFill>
              <a:srgbClr val="19064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927848" y="3236976"/>
            <a:ext cx="3118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2800" dirty="0"/>
          </a:p>
        </p:txBody>
      </p:sp>
      <p:sp>
        <p:nvSpPr>
          <p:cNvPr id="40" name="Shape 37"/>
          <p:cNvSpPr/>
          <p:nvPr/>
        </p:nvSpPr>
        <p:spPr>
          <a:xfrm rot="5400000">
            <a:off x="9363456" y="3858768"/>
            <a:ext cx="246888" cy="137160"/>
          </a:xfrm>
          <a:prstGeom prst="rightArrow">
            <a:avLst/>
          </a:prstGeom>
          <a:solidFill>
            <a:srgbClr val="512BD4"/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726680" y="4059936"/>
            <a:ext cx="3520440" cy="612648"/>
          </a:xfrm>
          <a:prstGeom prst="rect">
            <a:avLst/>
          </a:prstGeom>
          <a:solidFill>
            <a:srgbClr val="EEEAFB"/>
          </a:solidFill>
          <a:ln w="16510">
            <a:solidFill>
              <a:srgbClr val="19064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927848" y="4133088"/>
            <a:ext cx="3118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</a:t>
            </a:r>
            <a:endParaRPr lang="en-US" sz="2800" dirty="0"/>
          </a:p>
        </p:txBody>
      </p:sp>
      <p:sp>
        <p:nvSpPr>
          <p:cNvPr id="43" name="Shape 40"/>
          <p:cNvSpPr/>
          <p:nvPr/>
        </p:nvSpPr>
        <p:spPr>
          <a:xfrm rot="5400000">
            <a:off x="9363456" y="4754880"/>
            <a:ext cx="246888" cy="137160"/>
          </a:xfrm>
          <a:prstGeom prst="rightArrow">
            <a:avLst/>
          </a:prstGeom>
          <a:solidFill>
            <a:srgbClr val="512BD4"/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726680" y="4956048"/>
            <a:ext cx="3520440" cy="612648"/>
          </a:xfrm>
          <a:prstGeom prst="rect">
            <a:avLst/>
          </a:prstGeom>
          <a:solidFill>
            <a:srgbClr val="FFFFFF"/>
          </a:solidFill>
          <a:ln w="16510">
            <a:solidFill>
              <a:srgbClr val="19064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927848" y="5029200"/>
            <a:ext cx="3118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WILL CHECK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 evidence,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impressions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744200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3072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81944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00816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9688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0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57432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63072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81944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00816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19688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38560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57432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44200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81944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00816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19688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338560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57432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5961888"/>
            <a:ext cx="10972800" cy="530352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6007608"/>
            <a:ext cx="10625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captured runs. No declared winner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658368" y="2148840"/>
            <a:ext cx="6126480" cy="530352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2185416"/>
            <a:ext cx="5888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+ GUIDED: NOT-RUN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859536" y="2999232"/>
            <a:ext cx="228600" cy="228600"/>
          </a:xfrm>
          <a:prstGeom prst="rect">
            <a:avLst/>
          </a:prstGeom>
          <a:solidFill>
            <a:srgbClr val="FFFFFF"/>
          </a:solidFill>
          <a:ln w="16510">
            <a:solidFill>
              <a:srgbClr val="512BD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44168" y="287121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Migration + build</a:t>
            </a:r>
            <a:endParaRPr lang="en-US" sz="2800" dirty="0"/>
          </a:p>
        </p:txBody>
      </p:sp>
      <p:sp>
        <p:nvSpPr>
          <p:cNvPr id="32" name="Shape 29"/>
          <p:cNvSpPr/>
          <p:nvPr/>
        </p:nvSpPr>
        <p:spPr>
          <a:xfrm>
            <a:off x="859536" y="3666744"/>
            <a:ext cx="228600" cy="228600"/>
          </a:xfrm>
          <a:prstGeom prst="rect">
            <a:avLst/>
          </a:prstGeom>
          <a:solidFill>
            <a:srgbClr val="FFFFFF"/>
          </a:solidFill>
          <a:ln w="16510">
            <a:solidFill>
              <a:srgbClr val="512BD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344168" y="353872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+ JSON contract</a:t>
            </a:r>
            <a:endParaRPr lang="en-US" sz="2800" dirty="0"/>
          </a:p>
        </p:txBody>
      </p:sp>
      <p:sp>
        <p:nvSpPr>
          <p:cNvPr id="34" name="Shape 31"/>
          <p:cNvSpPr/>
          <p:nvPr/>
        </p:nvSpPr>
        <p:spPr>
          <a:xfrm>
            <a:off x="859536" y="4334256"/>
            <a:ext cx="228600" cy="228600"/>
          </a:xfrm>
          <a:prstGeom prst="rect">
            <a:avLst/>
          </a:prstGeom>
          <a:solidFill>
            <a:srgbClr val="FFFFFF"/>
          </a:solidFill>
          <a:ln w="16510">
            <a:solidFill>
              <a:srgbClr val="512BD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344168" y="4206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+ diagnostics</a:t>
            </a:r>
            <a:endParaRPr lang="en-US" sz="2800" dirty="0"/>
          </a:p>
        </p:txBody>
      </p:sp>
      <p:sp>
        <p:nvSpPr>
          <p:cNvPr id="36" name="Shape 33"/>
          <p:cNvSpPr/>
          <p:nvPr/>
        </p:nvSpPr>
        <p:spPr>
          <a:xfrm>
            <a:off x="859536" y="5001768"/>
            <a:ext cx="228600" cy="228600"/>
          </a:xfrm>
          <a:prstGeom prst="rect">
            <a:avLst/>
          </a:prstGeom>
          <a:solidFill>
            <a:srgbClr val="FFFFFF"/>
          </a:solidFill>
          <a:ln w="16510">
            <a:solidFill>
              <a:srgbClr val="512BD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344168" y="487375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 scope + review</a:t>
            </a:r>
            <a:endParaRPr lang="en-US" sz="2800" dirty="0"/>
          </a:p>
        </p:txBody>
      </p:sp>
      <p:sp>
        <p:nvSpPr>
          <p:cNvPr id="38" name="Shape 35"/>
          <p:cNvSpPr/>
          <p:nvPr/>
        </p:nvSpPr>
        <p:spPr>
          <a:xfrm>
            <a:off x="7662672" y="2029968"/>
            <a:ext cx="3657600" cy="3657600"/>
          </a:xfrm>
          <a:prstGeom prst="rect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589520" y="1956816"/>
            <a:ext cx="3657600" cy="3657600"/>
          </a:xfrm>
          <a:prstGeom prst="rect">
            <a:avLst/>
          </a:prstGeom>
          <a:solidFill>
            <a:srgbClr val="FFFFFF"/>
          </a:solidFill>
          <a:ln w="16510">
            <a:solidFill>
              <a:srgbClr val="190649"/>
            </a:solidFill>
            <a:prstDash val="solid"/>
          </a:ln>
        </p:spPr>
      </p:sp>
      <p:pic>
        <p:nvPicPr>
          <p:cNvPr id="40" name="Image 0" descr="Conceptual illustration of examining two neutral evidence stacks without declaring a winn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1524" y="1988820"/>
            <a:ext cx="3593592" cy="35935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MAINTENANCE LOOP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it a team practice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744200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3072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81944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00816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9688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0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57432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63072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81944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00816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19688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38560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57432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44200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81944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00816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19688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338560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57432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5961888"/>
            <a:ext cx="10972800" cy="530352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6007608"/>
            <a:ext cx="10625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 guide. Tests check. People decide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777240" y="2194560"/>
            <a:ext cx="4937760" cy="1261872"/>
          </a:xfrm>
          <a:prstGeom prst="rect">
            <a:avLst/>
          </a:prstGeom>
          <a:solidFill>
            <a:srgbClr val="EEEAFB"/>
          </a:solidFill>
          <a:ln w="16510">
            <a:solidFill>
              <a:srgbClr val="19064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78408" y="2359152"/>
            <a:ext cx="4535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+ own</a:t>
            </a:r>
            <a:endParaRPr lang="en-US" sz="3000" dirty="0"/>
          </a:p>
        </p:txBody>
      </p:sp>
      <p:sp>
        <p:nvSpPr>
          <p:cNvPr id="30" name="Text 27"/>
          <p:cNvSpPr/>
          <p:nvPr/>
        </p:nvSpPr>
        <p:spPr>
          <a:xfrm>
            <a:off x="978408" y="2953512"/>
            <a:ext cx="4535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accountable owner</a:t>
            </a:r>
            <a:endParaRPr lang="en-US" sz="2400" dirty="0"/>
          </a:p>
        </p:txBody>
      </p:sp>
      <p:sp>
        <p:nvSpPr>
          <p:cNvPr id="31" name="Shape 28"/>
          <p:cNvSpPr/>
          <p:nvPr/>
        </p:nvSpPr>
        <p:spPr>
          <a:xfrm>
            <a:off x="6446520" y="2194560"/>
            <a:ext cx="4937760" cy="1261872"/>
          </a:xfrm>
          <a:prstGeom prst="rect">
            <a:avLst/>
          </a:prstGeom>
          <a:solidFill>
            <a:srgbClr val="FFFFFF"/>
          </a:solidFill>
          <a:ln w="16510">
            <a:solidFill>
              <a:srgbClr val="19064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47688" y="2359152"/>
            <a:ext cx="4535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3000" dirty="0"/>
          </a:p>
        </p:txBody>
      </p:sp>
      <p:sp>
        <p:nvSpPr>
          <p:cNvPr id="33" name="Text 30"/>
          <p:cNvSpPr/>
          <p:nvPr/>
        </p:nvSpPr>
        <p:spPr>
          <a:xfrm>
            <a:off x="6647688" y="2953512"/>
            <a:ext cx="4535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Intent, examples, tests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6446520" y="4133088"/>
            <a:ext cx="4937760" cy="1261872"/>
          </a:xfrm>
          <a:prstGeom prst="rect">
            <a:avLst/>
          </a:prstGeom>
          <a:solidFill>
            <a:srgbClr val="EEEAFB"/>
          </a:solidFill>
          <a:ln w="16510">
            <a:solidFill>
              <a:srgbClr val="19064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647688" y="4297680"/>
            <a:ext cx="4535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</a:t>
            </a:r>
            <a:endParaRPr lang="en-US" sz="3000" dirty="0"/>
          </a:p>
        </p:txBody>
      </p:sp>
      <p:sp>
        <p:nvSpPr>
          <p:cNvPr id="36" name="Text 33"/>
          <p:cNvSpPr/>
          <p:nvPr/>
        </p:nvSpPr>
        <p:spPr>
          <a:xfrm>
            <a:off x="6647688" y="4892040"/>
            <a:ext cx="4535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another small change</a:t>
            </a:r>
            <a:endParaRPr lang="en-US" sz="2400" dirty="0"/>
          </a:p>
        </p:txBody>
      </p:sp>
      <p:sp>
        <p:nvSpPr>
          <p:cNvPr id="37" name="Shape 34"/>
          <p:cNvSpPr/>
          <p:nvPr/>
        </p:nvSpPr>
        <p:spPr>
          <a:xfrm>
            <a:off x="777240" y="4133088"/>
            <a:ext cx="4937760" cy="1261872"/>
          </a:xfrm>
          <a:prstGeom prst="rect">
            <a:avLst/>
          </a:prstGeom>
          <a:solidFill>
            <a:srgbClr val="FFFFFF"/>
          </a:solidFill>
          <a:ln w="16510">
            <a:solidFill>
              <a:srgbClr val="19064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78408" y="4297680"/>
            <a:ext cx="4535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</a:t>
            </a:r>
            <a:endParaRPr lang="en-US" sz="3000" dirty="0"/>
          </a:p>
        </p:txBody>
      </p:sp>
      <p:sp>
        <p:nvSpPr>
          <p:cNvPr id="39" name="Text 36"/>
          <p:cNvSpPr/>
          <p:nvPr/>
        </p:nvSpPr>
        <p:spPr>
          <a:xfrm>
            <a:off x="978408" y="4892040"/>
            <a:ext cx="4535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from real failures</a:t>
            </a:r>
            <a:endParaRPr lang="en-US" sz="2400" dirty="0"/>
          </a:p>
        </p:txBody>
      </p:sp>
      <p:sp>
        <p:nvSpPr>
          <p:cNvPr id="40" name="Shape 37"/>
          <p:cNvSpPr/>
          <p:nvPr/>
        </p:nvSpPr>
        <p:spPr>
          <a:xfrm>
            <a:off x="5870448" y="2734056"/>
            <a:ext cx="384048" cy="210312"/>
          </a:xfrm>
          <a:prstGeom prst="rightArrow">
            <a:avLst/>
          </a:prstGeom>
          <a:solidFill>
            <a:srgbClr val="512BD4"/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rot="5400000">
            <a:off x="8714232" y="3657600"/>
            <a:ext cx="402336" cy="219456"/>
          </a:xfrm>
          <a:prstGeom prst="rightArrow">
            <a:avLst/>
          </a:prstGeom>
          <a:solidFill>
            <a:srgbClr val="512BD4"/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 rot="10800000">
            <a:off x="5870448" y="4663440"/>
            <a:ext cx="384048" cy="210312"/>
          </a:xfrm>
          <a:prstGeom prst="rightArrow">
            <a:avLst/>
          </a:prstGeom>
          <a:solidFill>
            <a:srgbClr val="512BD4"/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 rot="16200000">
            <a:off x="3044952" y="3657600"/>
            <a:ext cx="402336" cy="219456"/>
          </a:xfrm>
          <a:prstGeom prst="rightArrow">
            <a:avLst/>
          </a:prstGeom>
          <a:solidFill>
            <a:srgbClr val="512BD4"/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FIRST SKILL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one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repeated explanation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744200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3072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81944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00816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9688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0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57432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63072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81944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00816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19688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38560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57432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44200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81944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00816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19688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338560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57432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5961888"/>
            <a:ext cx="10972800" cy="530352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6007608"/>
            <a:ext cx="10625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one task. Capture one rule. Review. Reuse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731520" y="2304288"/>
            <a:ext cx="589788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task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rule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example</a:t>
            </a:r>
            <a:endParaRPr lang="en-US" sz="3900" dirty="0"/>
          </a:p>
        </p:txBody>
      </p:sp>
      <p:sp>
        <p:nvSpPr>
          <p:cNvPr id="29" name="Shape 26"/>
          <p:cNvSpPr/>
          <p:nvPr/>
        </p:nvSpPr>
        <p:spPr>
          <a:xfrm>
            <a:off x="731520" y="4983480"/>
            <a:ext cx="5897880" cy="530352"/>
          </a:xfrm>
          <a:prstGeom prst="rect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50392" y="5020056"/>
            <a:ext cx="5660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enough to check</a:t>
            </a:r>
            <a:endParaRPr lang="en-US" sz="2400" dirty="0"/>
          </a:p>
        </p:txBody>
      </p:sp>
      <p:sp>
        <p:nvSpPr>
          <p:cNvPr id="31" name="Shape 28"/>
          <p:cNvSpPr/>
          <p:nvPr/>
        </p:nvSpPr>
        <p:spPr>
          <a:xfrm>
            <a:off x="7662672" y="2029968"/>
            <a:ext cx="3657600" cy="3657600"/>
          </a:xfrm>
          <a:prstGeom prst="rect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589520" y="1956816"/>
            <a:ext cx="3657600" cy="3657600"/>
          </a:xfrm>
          <a:prstGeom prst="rect">
            <a:avLst/>
          </a:prstGeom>
          <a:solidFill>
            <a:srgbClr val="FFFFFF"/>
          </a:solidFill>
          <a:ln w="16510">
            <a:solidFill>
              <a:srgbClr val="190649"/>
            </a:solidFill>
            <a:prstDash val="solid"/>
          </a:ln>
        </p:spPr>
      </p:sp>
      <p:pic>
        <p:nvPicPr>
          <p:cNvPr id="33" name="Image 0" descr="Conceptual illustration of scattered notes becoming an organized reusable gui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1524" y="1988820"/>
            <a:ext cx="3593592" cy="35935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RESOURCES / Q&amp;A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972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06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Try the workflow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744200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63072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81944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00816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9688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0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57432" y="32918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63072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81944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00816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19688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38560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57432" y="42062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44200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81944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00816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19688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338560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57432" y="512064"/>
            <a:ext cx="21031" cy="21031"/>
          </a:xfrm>
          <a:prstGeom prst="ellipse">
            <a:avLst/>
          </a:prstGeom>
          <a:solidFill>
            <a:srgbClr val="B9AAEE"/>
          </a:solidFill>
          <a:ln w="12700">
            <a:solidFill>
              <a:srgbClr val="B9AAE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5961888"/>
            <a:ext cx="10972800" cy="530352"/>
          </a:xfrm>
          <a:prstGeom prst="rect">
            <a:avLst/>
          </a:prstGeom>
          <a:solidFill>
            <a:srgbClr val="EEEAFB"/>
          </a:solidFill>
          <a:ln w="12700">
            <a:solidFill>
              <a:srgbClr val="EEEAF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6007608"/>
            <a:ext cx="10625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knowledge explicit. Check behavior. Reuse what works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658368" y="2176272"/>
            <a:ext cx="7269480" cy="3337560"/>
          </a:xfrm>
          <a:prstGeom prst="rect">
            <a:avLst/>
          </a:prstGeom>
          <a:solidFill>
            <a:srgbClr val="EEEAFB"/>
          </a:solidFill>
          <a:ln w="16510">
            <a:solidFill>
              <a:srgbClr val="190649"/>
            </a:solidFill>
            <a:prstDash val="solid"/>
          </a:ln>
        </p:spPr>
      </p:sp>
      <p:sp>
        <p:nvSpPr>
          <p:cNvPr id="29" name="Text 26">
            <a:hlinkClick r:id="rId1" tooltip=""/>
          </p:cNvPr>
          <p:cNvSpPr/>
          <p:nvPr/>
        </p:nvSpPr>
        <p:spPr>
          <a:xfrm>
            <a:off x="932688" y="2450592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u="sng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Official agent skills docs</a:t>
            </a:r>
            <a:endParaRPr lang="en-US" sz="3000" dirty="0"/>
          </a:p>
        </p:txBody>
      </p:sp>
      <p:sp>
        <p:nvSpPr>
          <p:cNvPr id="30" name="Text 27"/>
          <p:cNvSpPr/>
          <p:nvPr/>
        </p:nvSpPr>
        <p:spPr>
          <a:xfrm>
            <a:off x="932688" y="30632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docs.github.com</a:t>
            </a:r>
            <a:endParaRPr lang="en-US" sz="2600" dirty="0"/>
          </a:p>
        </p:txBody>
      </p:sp>
      <p:sp>
        <p:nvSpPr>
          <p:cNvPr id="31" name="Text 28">
            <a:hlinkClick r:id="rId2" tooltip=""/>
          </p:cNvPr>
          <p:cNvSpPr/>
          <p:nvPr/>
        </p:nvSpPr>
        <p:spPr>
          <a:xfrm>
            <a:off x="932688" y="3858768"/>
            <a:ext cx="6675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u="sng" dirty="0">
                <a:solidFill>
                  <a:srgbClr val="190649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Official upgrade docs</a:t>
            </a:r>
            <a:endParaRPr lang="en-US" sz="3000" dirty="0"/>
          </a:p>
        </p:txBody>
      </p:sp>
      <p:sp>
        <p:nvSpPr>
          <p:cNvPr id="32" name="Text 29"/>
          <p:cNvSpPr/>
          <p:nvPr/>
        </p:nvSpPr>
        <p:spPr>
          <a:xfrm>
            <a:off x="932688" y="4471416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learn.microsoft.com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8366760" y="2587752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512B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</a:t>
            </a:r>
            <a:endParaRPr lang="en-US" sz="6400" dirty="0"/>
          </a:p>
        </p:txBody>
      </p:sp>
      <p:sp>
        <p:nvSpPr>
          <p:cNvPr id="34" name="Text 31"/>
          <p:cNvSpPr/>
          <p:nvPr/>
        </p:nvSpPr>
        <p:spPr>
          <a:xfrm>
            <a:off x="8211312" y="3995928"/>
            <a:ext cx="324612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link pending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514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verification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Bruno Capuano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Tribal Knowledge to Code: Custom Skills for GitHub Copilot Modernization | v02 draft</dc:title>
  <dc:subject>Draft visual redesign; synthetic local demo; conceptual illustrations, not agent evidence</dc:subject>
  <dc:creator>Bruno Capuano</dc:creator>
  <cp:lastModifiedBy>Bruno Capuano</cp:lastModifiedBy>
  <cp:revision>1</cp:revision>
  <dcterms:created xsi:type="dcterms:W3CDTF">2026-09-28T21:19:16Z</dcterms:created>
  <dcterms:modified xsi:type="dcterms:W3CDTF">2026-09-28T21:19:16Z</dcterms:modified>
</cp:coreProperties>
</file>
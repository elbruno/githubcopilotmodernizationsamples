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S01 | elapsed 0-3 minutes | Set the challenge
Designed timing, not a measured human rehearsal. All application data, people and policies are synthetic.
- Introduce yourself and the recurring explanation: it works, but we do not do it that way here
- One synthetic .NET app, one reusable skill and five demos; slides are bookmarks, not the main event
- The app is local; independent Copilot generation needs an enabled account and network
- Prepared checkpoints and reference tests are real, but are not independent agent captures
Show: Title, local presenter photo, then the small app tree
Evidence: Seven labeled teaching checkpoints; generation status remains not-run
Transition: First, state only the technology change
Fallback: Keep the introduction to one minute if the host handoff runs long
Source: demos/v03/session.json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S02 | elapsed 3-8 minutes | Task without the organizational skill
Designed timing, not a measured human rehearsal. All application data, people and policies are synthetic.
- Open 01-baseline alone in a fresh conversation and run its smoke tests and partner request
- Point out total 270, explicit null and the separate audit event; the starting app works
- Explain the midpoint example: 100.05 subtotal minus 10.01 discount plus 12 shipping equals 102.04
- Paste prompts/01-baseline.txt exactly; inspect actual changes without presuming a failure
- At minute 8 move on; do not spend the session waiting on one generation
Show: 01-baseline source, real terminal output and the exact baseline prompt
Checkpoint: 01-baseline
Exact prompt: prompts/01-baseline.txt
Evidence: Legacy behavior is already correct; only real generated output can count as an agent result
Transition: Now package the team's intent rather than repeating it in every prompt
Fallback: After 60-90 seconds of unproductive waiting, show 04-reference and identify it as prepared
Source: prompts/01-baseline.txt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S03 | elapsed 8-10 minutes | Build and review the skill with Copilot
Designed timing, not a measured human rehearsal. All application data, people and policies are synthetic.
- Switch to 02-author-skill, which has legacy code and synthetic team notes but no prewritten project skill
- Highlight pricing exceptions, wire compatibility, audit conventions and safe diagnostics
- The source already contains clues; the task is to make intent discoverable, not invent policy
- Use demos/v03/prompts/02-author-skill.txt to ask Copilot to author guidance only, not change application code
Show: knowledge/team-notes.md beside the small source tree
Checkpoint: 02-author-skill
Exact prompt: demos/v03/prompts/02-author-skill.txt
Evidence: Four synthetic requirements mapped to R1-R4
Transition: Give this knowledge a portable home
Fallback: Read one null-field note aloud and use the prepared skill to explain its translation
Source: knowledge/team-notes.md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S04 | elapsed 10-14 minutes | Build and review the skill with Copilot
Designed timing, not a measured human rehearsal. All application data, people and policies are synthetic.
- Show the actual skill Copilot created, or explicitly switch to the prepared version
- Explain name and task-specific description, then inspect-first steps and concrete examples
- Keep references inside the skill directory so the exported package has no broken links
- Reject broad tool permissions, invented requirements and unrelated implementation changes
Show: .github/skills/northwind-modernization/SKILL.md and its references directory
Checkpoint: 02-author-skill
Exact prompt: demos/v03/prompts/02-author-skill.txt
Evidence: Documented repository skill structure; the package has four files
Transition: Before using generated guidance, review it like code
Fallback: Open the reviewed skill in 03-guided; call it prepared and explain one rule live
Source: https://docs.github.com/en/copilot/concepts/agents/about-agent-skills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S05 | elapsed 14-18 minutes | Build and review the skill with Copilot
Designed timing, not a measured human rehearsal. All application data, people and policies are synthetic.
- Check that the description covers migration, contract repair and small serialization reuse
- Inspect an actionable R2 rule: explicit null property, good and bad examples, unchanged assertion
- Review migration versus repair versus reuse branches so unrelated tasks do not trigger dependency changes
- Announce the prepared reviewed skill handoff into 03-guided instead of silently substituting files
- A live-authored variation is fine for teaching, but is not the predefined comparison input
Show: Skill frontmatter, concrete traps, workflow branches and review checklist
Checkpoint: 02-author-skill
Exact prompt: demos/v03/prompts/02-author-skill.txt
Evidence: Skill text and real tests, not claims about hidden activation telemetry
Transition: Start again with the same input and explicit team context
Fallback: Use the prepared checklist and stop the skill-authoring segment at minute 18
Source: .github/skills/northwind-modernization/SKILL.md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S06 | elapsed 18-30 minutes | Apply the skill to modernization
Designed timing, not a measured human rehearsal. All application data, people and policies are synthetic.
- Use 03-guided as its own project and a fresh conversation, never the parent folder
- Show the 18 matching legacy source/test files and four added skill files
- Paste prompts/02-guided.txt; it explicitly requests the skill
- Show only activation or file-access evidence the host actually exposes; availability alone is not use
- Run visible tests and external evaluation if there is a completed candidate
- Do not replace a candidate with the reference and call it generated output
Show: Guided prompt, skill, real diff, test output and scripts/evaluate.ps1
Checkpoint: 03-guided
Exact prompt: prompts/02-guided.txt
Evidence: Baseline and guided independent captures are currently not-run; no claimed winner
Transition: A good skill still needs a way to catch mistakes
Fallback: Run real tests in 04-reference and label it authored reference; move on at minute 30
Source: prompts/02-guided.txt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S07 | elapsed 30-32 minutes | Reproduce and repair a deliberate contract regression
Designed timing, not a measured human rehearsal. All application data, people and policies are synthetic.
- Disclose the intentional regression before showing the red test
- Open 05-null-regression and show WhenWritingNull in the serializer options
- Run SerializationTests.PreservesExplicitNull with a build of current code
- Read the real assertion about review_note existing even when its value is null
Show: Faulted setting and unchanged null-contract test
Checkpoint: 05-null-regression
Exact prompt: demos/v03/prompts/04-repair.txt
Evidence: Scripted rehearsal observes the exact intended assertion, not an arbitrary nonzero exit
Transition: Use the skill to explain and repair the mismatch
Fallback: The broken checkpoint is already prepared; do not break the source repository
Source: tests/Northwind.UnitTests/SerializationTests.cs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S08 | elapsed 32-37 minutes | Reproduce and repair a deliberate contract regression
Designed timing, not a measured human rehearsal. All application data, people and policies are synthetic.
- Paste demos/v03/prompts/04-repair.txt and require reproduction before changes
- Reject removing or weakening the assertion as a fix
- After the minimal repair, run the exact same focused test and then the full suite
- If using set-demo-null-rule.ps1, disclose the scripted repair rather than calling it agent-generated
- These finite checks do not guarantee universal compliance
Show: Focused failure, serializer repair, same test passing and full-suite result
Checkpoint: 05-null-regression
Exact prompt: demos/v03/prompts/04-repair.txt
Evidence: Actual prepared-fixture red/green rehearsal; no fabricated agent run
Transition: Can the same skill help with a different task?
Fallback: Use the guarded scripted repair and show real tests; hard stop at minute 37
Source: scripts/set-demo-null-rule.ps1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S09 | elapsed 37-45 minutes | Reuse the skill for batch serialization
Designed timing, not a measured human rehearsal. All application data, people and policies are synthetic.
- Start a fresh conversation in 06-reuse-start and paste demos/v03/prompts/05-reuse.txt
- Add WriteBatch for existing responses without changing CLI, pricing, audit or dependencies
- Preserve item order, field names, string enums, numeric money and explicit null
- Check empty input produces an array and a null collection throws
- Check actual executed test counts; a filter matching zero tests is not success
- Prepared 07-reuse-complete has three focused tests and the full contract suite
Show: Small batch method and focused per-item equivalence tests
Checkpoint: 06-reuse-start
Exact prompt: demos/v03/prompts/05-reuse.txt
Evidence: Existing CLI, domain and audit source stay hash-identical in the prepared reuse checkpoint
Transition: Name the pieces you just watched work together
Fallback: At the cutoff, switch to 07-reuse-complete, disclose it and run its real tests
Source: demos/v03/prompts/05-reuse.txt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S10 | elapsed 45-47 minutes | Context choices and team ownership
Designed timing, not a measured human rehearsal. All application data, people and policies are synthetic.
- The prompt stated the immediate task
- Instructions supplied broad project conventions
- The skill supplied a relevant workflow, examples and resources
- Tests checked observable cases; a person still reviewed scope and intent
- Keep this recap short: attendees have already seen the distinctions live
Show: Prompt, instructions, skill package and test files as concrete examples
Evidence: Different files with distinct responsibilities
Transition: Make the skill a maintained team asset
Fallback: Give the four definitions in one sentence and protect Q&amp;A
Source: https://docs.github.com/en/copilot/concepts/agents/about-agent-skills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S11 | elapsed 47-50 minutes | Context choices and team ownership
Designed timing, not a measured human rehearsal. All application data, people and policies are synthetic.
- Version the skill with the code, give it an owner and review changes
- Update examples and tests when the business contract changes
- Start with a narrow task rather than a company-wide standards catalog
- Close with one repeated explanation the attendee can encode tomorrow
Show: Editable ownership/review/reuse/maintenance loop
Evidence: Maintenance checklist rather than a promise of deterministic generation
Transition: Here is the complete kit; what would your first skill capture?
Fallback: Close in one minute if needed; reach resources at minute 50
Source: docs/maintenance.md
Presenter commands and spoken cues: demos/v03/runbook.md and demos/v03/demo-script.md
Visuals: original conceptual Flare illustrations, not screenshots, agent evidence or official product artwork. Presenter supplied the local headshot; it was not uploaded for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S12 | elapsed 50-60 minutes | Resources and protected Q&amp;A
Designed timing, not a measured human rehearsal. All application data, people and policies are synthetic.
- Keep the public sample and official documentation visible for the protected ten-minute Q&amp;A
- The repository includes seven local checkpoints, exact prompts, real tests, notes and fallbacks
- Publication must be verified independently of generation and deck QA
- A correct baseline or imperfect guided run is legitimate; no forced success story
- Human rehearsal and actual independent agent captures remain separate pending activities
Show: Public sample URL and official agent-skills link
Evidence: Use the publication receipt and signed-out access check, not a guessed URL
Transition: What is one rule your team keeps explaining?
Fallback: If audience access fails, share official docs and resolve sample access after the session
Source: https://docs.github.com/en/copilot/concepts/agents/about-agent-skills
Presenter commands and spoken cues: demos/v03/runbook.md and demos/v03/demo-script.md
Visuals: original conceptual Flare illustrations, not screenshots, agent evidence or official product artwork. Presenter supplied the local headshot; it was not uploaded for generation.
https://github.com/elbruno/GitHubCopilotModernizationSamples
https://docs.github.com/en/copilot/concepts/agents/about-agent-skills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lbruno/GitHubCopilotModernizationSamples" TargetMode="External"/><Relationship Id="rId2" Type="http://schemas.openxmlformats.org/officeDocument/2006/relationships/hyperlink" Target="https://github.com/elbruno/GitHubCopilotModernizationSamples" TargetMode="External"/><Relationship Id="rId3" Type="http://schemas.openxmlformats.org/officeDocument/2006/relationships/hyperlink" Target="https://docs.github.com/en/copilot/concepts/agents/about-agent-skill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skill. Apply it. Test its limits. Reuse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SKILLS / FIVE LIVE DEMOS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601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Tribal Knowledge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Code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21792" y="29260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Skills for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Modernization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21792" y="4279392"/>
            <a:ext cx="4937760" cy="548640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32511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Bruno Capuano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21792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app. One skill. Five demos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8247888" y="1024128"/>
            <a:ext cx="3246120" cy="4462272"/>
          </a:xfrm>
          <a:prstGeom prst="rect">
            <a:avLst/>
          </a:prstGeom>
          <a:solidFill>
            <a:srgbClr val="B9AAEE"/>
          </a:solidFill>
          <a:ln w="15240">
            <a:solidFill>
              <a:srgbClr val="190649"/>
            </a:solidFill>
            <a:prstDash val="solid"/>
          </a:ln>
        </p:spPr>
      </p:sp>
      <p:pic>
        <p:nvPicPr>
          <p:cNvPr id="12" name="Image 0" descr="Bruno Capuano, presenter-supplied local photograp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6448" y="932688"/>
            <a:ext cx="3246120" cy="44622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56448" y="932688"/>
            <a:ext cx="3246120" cy="446227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19064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correct baseline is a valid result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 / TRY THE TASK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Modernize the library,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the behavior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176272"/>
            <a:ext cx="612648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221992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CAPTURE: NOT-RUN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59536" y="289864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Newtonsoft.Json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 rot="5400000">
            <a:off x="3474720" y="3685032"/>
            <a:ext cx="438912" cy="256032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13308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System.Text.Json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59536" y="4828032"/>
            <a:ext cx="5669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input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actual changes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662672" y="2084832"/>
            <a:ext cx="3657600" cy="3657600"/>
          </a:xfrm>
          <a:prstGeom prst="rect">
            <a:avLst/>
          </a:prstGeom>
          <a:solidFill>
            <a:srgbClr val="B9AAEE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2011680"/>
            <a:ext cx="36576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pic>
        <p:nvPicPr>
          <p:cNvPr id="15" name="Image 0" descr="Conceptual illustration of a careful component swap that preserves the surrounding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524" y="2043684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requirements need examples and observable checks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 / SYNTHETIC TEAM KNOWLEDGE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explanations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team repeats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6080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  Pricing exceptions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777240" y="3172968"/>
            <a:ext cx="6080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  JSON compatibility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777240" y="3922776"/>
            <a:ext cx="6080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 Approved audit path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77240" y="4672584"/>
            <a:ext cx="6080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  Safe diagnostics</a:t>
            </a:r>
            <a:endParaRPr lang="en-US" sz="2900" dirty="0"/>
          </a:p>
        </p:txBody>
      </p:sp>
      <p:sp>
        <p:nvSpPr>
          <p:cNvPr id="11" name="Shape 8"/>
          <p:cNvSpPr/>
          <p:nvPr/>
        </p:nvSpPr>
        <p:spPr>
          <a:xfrm>
            <a:off x="7662672" y="2084832"/>
            <a:ext cx="3657600" cy="3657600"/>
          </a:xfrm>
          <a:prstGeom prst="rect">
            <a:avLst/>
          </a:prstGeom>
          <a:solidFill>
            <a:srgbClr val="B9AAEE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2011680"/>
            <a:ext cx="36576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pic>
        <p:nvPicPr>
          <p:cNvPr id="13" name="Image 0" descr="Conceptual illustration of scattered notes becoming an organized reusable gu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524" y="2043684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workflow focused and its references portable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 / AUTHOR THE SKILL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 reusable package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231136"/>
            <a:ext cx="6172200" cy="1298448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4231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SKILL.md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294436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2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northwind-modernization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96112" y="3913632"/>
            <a:ext cx="5669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apply it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and references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to report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662672" y="2084832"/>
            <a:ext cx="3657600" cy="3657600"/>
          </a:xfrm>
          <a:prstGeom prst="rect">
            <a:avLst/>
          </a:prstGeom>
          <a:solidFill>
            <a:srgbClr val="B9AAEE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2011680"/>
            <a:ext cx="36576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pic>
        <p:nvPicPr>
          <p:cNvPr id="13" name="Image 0" descr="Conceptual illustration of a robot placing a blank guidance card into a reusable toolk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524" y="2043684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description supports selection, not guaranteed adherence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 / REVIEW BEFORE REUSE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should it apply?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would convince us?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240280"/>
            <a:ext cx="10881360" cy="667512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23225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4681728" y="2322576"/>
            <a:ext cx="6547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task and scope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3054096"/>
            <a:ext cx="10881360" cy="66751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3136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681728" y="3136392"/>
            <a:ext cx="6547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rules and examples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58368" y="3867912"/>
            <a:ext cx="10881360" cy="667512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3950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4681728" y="3950208"/>
            <a:ext cx="6547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Migration, repair or reuse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58368" y="4681728"/>
            <a:ext cx="10881360" cy="66751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" y="47640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4681728" y="4764024"/>
            <a:ext cx="6547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checks and limitations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real diff and run the same checks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3 / APPLY THE SKILL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task.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Explicit team context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167128"/>
            <a:ext cx="612648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212848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CAPTURE: NOT-RUN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8368" y="2916936"/>
            <a:ext cx="612648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310896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matching input files</a:t>
            </a:r>
            <a:endParaRPr lang="en-US" sz="2900" dirty="0"/>
          </a:p>
        </p:txBody>
      </p:sp>
      <p:sp>
        <p:nvSpPr>
          <p:cNvPr id="11" name="Shape 8"/>
          <p:cNvSpPr/>
          <p:nvPr/>
        </p:nvSpPr>
        <p:spPr>
          <a:xfrm>
            <a:off x="658368" y="4123944"/>
            <a:ext cx="6126480" cy="932688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431596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+ 4 reviewed skill files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877824" y="5239512"/>
            <a:ext cx="5669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conversation. Explicit request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726680" y="2276856"/>
            <a:ext cx="3520440" cy="612648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18704" y="2350008"/>
            <a:ext cx="3136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 rot="5400000">
            <a:off x="9363456" y="2971800"/>
            <a:ext cx="246888" cy="137160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6680" y="3172968"/>
            <a:ext cx="3520440" cy="612648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18704" y="3246120"/>
            <a:ext cx="3136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 rot="5400000">
            <a:off x="9363456" y="3867912"/>
            <a:ext cx="246888" cy="137160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26680" y="4069080"/>
            <a:ext cx="3520440" cy="612648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4142232"/>
            <a:ext cx="3136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 rot="5400000">
            <a:off x="9363456" y="4764024"/>
            <a:ext cx="246888" cy="137160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4965192"/>
            <a:ext cx="3520440" cy="612648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8704" y="5038344"/>
            <a:ext cx="3136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Deliberately introduced, not a captured Copilot mistake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4 / INTRODUCE A TEACHING BUG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option.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broken contract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249424"/>
            <a:ext cx="5074920" cy="3200400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CONTRACT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33101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"review_note": null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14400" y="437083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field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value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172200" y="2249424"/>
            <a:ext cx="5074920" cy="3200400"/>
          </a:xfrm>
          <a:prstGeom prst="rect">
            <a:avLst/>
          </a:prstGeom>
          <a:solidFill>
            <a:srgbClr val="FBE5F6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9088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TEACHING BUG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419088" y="33101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WhenWritingNull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6419088" y="4370832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disappears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assertion catches it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carry intent. Tests detect defined regressions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4 / REPAIR AND VERIFY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the test.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Repair the implementation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377440"/>
            <a:ext cx="3337560" cy="2514600"/>
          </a:xfrm>
          <a:prstGeom prst="rect">
            <a:avLst/>
          </a:prstGeom>
          <a:solidFill>
            <a:srgbClr val="FBE5F6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67004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59536" y="3584448"/>
            <a:ext cx="29352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actual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assertion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4078224" y="3465576"/>
            <a:ext cx="265176" cy="173736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25696" y="2377440"/>
            <a:ext cx="3337560" cy="2514600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6864" y="267004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626864" y="3584448"/>
            <a:ext cx="29352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null handling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assertion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7845552" y="3465576"/>
            <a:ext cx="265176" cy="173736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3024" y="2377440"/>
            <a:ext cx="333756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267004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394192" y="3584448"/>
            <a:ext cx="29352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test, then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full suite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731520" y="5184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red / green exercise, not agent-performance evidence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output options, not another wall of instructions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5 / REUSE THE KNOWLEDGE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new task.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contract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295144"/>
            <a:ext cx="5029200" cy="1078992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587752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existing responses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5833872" y="2734056"/>
            <a:ext cx="384048" cy="228600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2512" y="2295144"/>
            <a:ext cx="498348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0256" y="2587752"/>
            <a:ext cx="4507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JSON array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96112" y="3840480"/>
            <a:ext cx="46817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output options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per-item contract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620256" y="3767328"/>
            <a:ext cx="452628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stays intact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input: []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 input: reject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896112" y="5303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changes to CLI, pricing or audit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guides the work; evidence supports the review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 / WHAT YOU JUST USED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tools, different jobs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240280"/>
            <a:ext cx="10881360" cy="66751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2322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4206240" y="23225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task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3054096"/>
            <a:ext cx="10881360" cy="66751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3136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206240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project conventions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58368" y="3867912"/>
            <a:ext cx="10881360" cy="667512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39502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420624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workflow and resources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58368" y="4681728"/>
            <a:ext cx="10881360" cy="66751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" y="47640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4206240" y="476402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 behavior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task. Capture one rule. Check it. Reuse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NEXT STEP / ONE REPEATED EXPLANATION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it a team practice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777240" y="2267712"/>
            <a:ext cx="4937760" cy="1261872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8408" y="2423160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+ own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78408" y="3035808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accountable owner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46520" y="2267712"/>
            <a:ext cx="493776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47688" y="2423160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47688" y="3035808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Intent, examples, tests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446520" y="4197096"/>
            <a:ext cx="4937760" cy="1261872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47688" y="4352544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647688" y="4965192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small change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77240" y="4197096"/>
            <a:ext cx="493776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4352544"/>
            <a:ext cx="4535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78408" y="4965192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real failures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870448" y="2798064"/>
            <a:ext cx="384048" cy="210312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8714232" y="3721608"/>
            <a:ext cx="402336" cy="219456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10800000">
            <a:off x="5870448" y="4727448"/>
            <a:ext cx="384048" cy="210312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rot="16200000">
            <a:off x="3044952" y="3721608"/>
            <a:ext cx="402336" cy="219456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94360" y="5961888"/>
            <a:ext cx="10972800" cy="548640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0664" y="6007608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skill. Apply it. Test its limits. Reuse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/ Q&amp;A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Try the five-demo workflow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658368" y="2212848"/>
            <a:ext cx="10835640" cy="1545336"/>
          </a:xfrm>
          <a:prstGeom prst="rect">
            <a:avLst/>
          </a:prstGeom>
          <a:solidFill>
            <a:srgbClr val="EEEAFB"/>
          </a:solidFill>
          <a:ln w="15240">
            <a:solidFill>
              <a:srgbClr val="190649"/>
            </a:solidFill>
            <a:prstDash val="solid"/>
          </a:ln>
        </p:spPr>
      </p:sp>
      <p:sp>
        <p:nvSpPr>
          <p:cNvPr id="8" name="Text 5">
            <a:hlinkClick r:id="rId1" tooltip=""/>
          </p:cNvPr>
          <p:cNvSpPr/>
          <p:nvPr/>
        </p:nvSpPr>
        <p:spPr>
          <a:xfrm>
            <a:off x="905256" y="244144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complete local demo kit</a:t>
            </a:r>
            <a:endParaRPr lang="en-US" sz="30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905256" y="30906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u="sng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github.com/elbruno/GitHubCopilotModernizationSamples</a:t>
            </a:r>
            <a:endParaRPr lang="en-US" sz="2500" dirty="0"/>
          </a:p>
        </p:txBody>
      </p:sp>
      <p:sp>
        <p:nvSpPr>
          <p:cNvPr id="10" name="Text 7">
            <a:hlinkClick r:id="rId3" tooltip=""/>
          </p:cNvPr>
          <p:cNvSpPr/>
          <p:nvPr/>
        </p:nvSpPr>
        <p:spPr>
          <a:xfrm>
            <a:off x="905256" y="42519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agent skills docs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05256" y="4910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docs.github.com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732520" y="422452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Bruno Capuano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Tribal Knowledge to Code: Custom Skills for GitHub Copilot Modernization</dc:title>
  <dc:subject>v03 skills-first five-demo session; prepared teaching examples are not independent agent captures</dc:subject>
  <dc:creator>Bruno Capuano</dc:creator>
  <cp:lastModifiedBy>Bruno Capuano</cp:lastModifiedBy>
  <cp:revision>1</cp:revision>
  <dcterms:created xsi:type="dcterms:W3CDTF">2026-09-28T21:37:48Z</dcterms:created>
  <dcterms:modified xsi:type="dcterms:W3CDTF">2026-09-28T21:37:48Z</dcterms:modified>
</cp:coreProperties>
</file>